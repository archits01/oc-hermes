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Sri Mahadeva, and members of the executive leadership team.</a:t>
            </a:r>
          </a:p>
          <a:p/>
          <a:p>
            <a:r>
              <a:t>Today is not a generic AI discussion. It is a finance-and-service operating proposal: use native Kannada voice automation to improve collection velocity, reduce avoidable 1912 pressure, and create stronger evidence trails around customer and payment interactions.</a:t>
            </a:r>
          </a:p>
          <a:p/>
          <a:p>
            <a:r>
              <a:t>We will stay candid about what is confirmed, what is a pilot hypothesis, and what must be validated through a controlled BESCOM data handshake.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point is scale. The briefing baseline cites ₹5,175.84 crore of closing trade receivables, ₹2,288.51 crore of finance costs, and 14.94 million consumers. Before external circulation, Finance should reconcile these three figures to the signed financial-statement tables.</a:t>
            </a:r>
          </a:p>
          <a:p/>
          <a:p>
            <a:r>
              <a:t>The primary FY24–25 report gives us a more specific control case. It identifies ₹80.64 crore in a pending reconciliation GL code linked to differences between TRM MIS DCB reports and the books. It also records quarterly reporting differences between collateral returns and the books ranging from ₹1,813.67 crore to ₹6,937.53 crore.</a:t>
            </a:r>
          </a:p>
          <a:p/>
          <a:p>
            <a:r>
              <a:t>That is the problem we can responsibly address: not “AI fixes accounting,” but a controlled workflow that captures verified identifiers, commitments, and payment evidence before data reaches downstream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use case is 1912 and customer care. The operating idea is simple: understand the caller in the language they naturally use, identify the consumer and issue, create the structured complaint, and return a ticket or next action.</a:t>
            </a:r>
          </a:p>
          <a:p/>
          <a:p>
            <a:r>
              <a:t>The capabilities shown here are proposed solution capabilities, not claims that BESCOM systems are already connected. The pilot must validate Kannada recognition across service districts, CRM write-back, RR-number lookup, escalation rules, and whether outage or restoration data can be exposed safely.</a:t>
            </a:r>
          </a:p>
          <a:p/>
          <a:p>
            <a:r>
              <a:t>The value case is operational: absorb surge demand, reduce repetitive agent work, and provide a consistent case record that Finance and Operations can inspect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use case is collections. The workflow starts with DCB and TRM profiling, then uses a Kannada conversation to explain the specific account position, and only then offers an approved payment path. The system captures the transaction identifier, UTR, and promise-to-pay outcome for Finance.</a:t>
            </a:r>
          </a:p>
          <a:p/>
          <a:p>
            <a:r>
              <a:t>The ₹51.75 crore figure is a transparent sensitivity calculation: one percent of the briefing baseline of ₹5,175.84 crore. It is not a recovery forecast. The pilot should measure contact rate, right-party contact, promise-to-pay conversion, payment completion, and reconciliation quality.</a:t>
            </a:r>
          </a:p>
          <a:p/>
          <a:p>
            <a:r>
              <a:t>The CFO benefit is not merely more calls. It is faster cash conversion with evidence that can be reconciled.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boundary. Voice is not the system of record. The orchestration layer should be policy-aware and should write only through approved BESCOM interfaces. Every meaningful event needs a verified identifier: RR number, transaction ID, UTR, timestamp, consent, and disposition.</a:t>
            </a:r>
          </a:p>
          <a:p/>
          <a:p>
            <a:r>
              <a:t>The primary report is clear about the current control challenge: TRM DCB MIS reports and books do not always agree, and ₹80.64 crore was identified in a pending-reconciliation GL code as at 31 March 2025. This proposal is designed to avoid creating new unidentified activity.</a:t>
            </a:r>
          </a:p>
          <a:p/>
          <a:p>
            <a:r>
              <a:t>We should not claim “pre-built webhooks,” “SCADA sync,” or compliance certification until BESCOM IT, cybersecurity, and ERP owners validate the actual interfaces and controls.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deliberately narrow: approve a 30-day sandbox proof of value, not a production rollout. One urban and one rural division give us enough operating variation to test language, queue patterns, account segmentation, and governance without creating a large change program.</a:t>
            </a:r>
          </a:p>
          <a:p/>
          <a:p>
            <a:r>
              <a:t>Workstream A focuses on 90-plus-day defaults and measures the entire chain, not just call volume. Workstream B focuses on Kannada 1912 spillover and measures whether a call becomes a correctly logged ticket and a clear next action.</a:t>
            </a:r>
          </a:p>
          <a:p/>
          <a:p>
            <a:r>
              <a:t>The three targets shown are pilot targets to validate, not guaranteed outcomes. If Finance and Operations agree the data handshake, owners, and stop criteria are safe, the decision requested today is simply to greenlight the sandbox.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7635240" y="0"/>
            <a:ext cx="4553712" cy="6858000"/>
          </a:xfrm>
          <a:prstGeom prst="rect">
            <a:avLst/>
          </a:prstGeom>
          <a:solidFill>
            <a:srgbClr val="162447"/>
          </a:solidFill>
          <a:ln w="10160">
            <a:solidFill>
              <a:srgbClr val="162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7772400" y="0"/>
            <a:ext cx="4389120" cy="4389120"/>
          </a:xfrm>
          <a:prstGeom prst="line">
            <a:avLst/>
          </a:prstGeom>
          <a:ln w="10160">
            <a:solidFill>
              <a:srgbClr val="20345B"/>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247888" y="0"/>
            <a:ext cx="3913632" cy="4069080"/>
          </a:xfrm>
          <a:prstGeom prst="line">
            <a:avLst/>
          </a:prstGeom>
          <a:ln w="10160">
            <a:solidFill>
              <a:srgbClr val="20345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723376" y="0"/>
            <a:ext cx="3438144" cy="3749039"/>
          </a:xfrm>
          <a:prstGeom prst="line">
            <a:avLst/>
          </a:prstGeom>
          <a:ln w="10160">
            <a:solidFill>
              <a:srgbClr val="20345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198864" y="0"/>
            <a:ext cx="2962656" cy="3429000"/>
          </a:xfrm>
          <a:prstGeom prst="line">
            <a:avLst/>
          </a:prstGeom>
          <a:ln w="10160">
            <a:solidFill>
              <a:srgbClr val="20345B"/>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74352" y="0"/>
            <a:ext cx="2487168" cy="3108960"/>
          </a:xfrm>
          <a:prstGeom prst="line">
            <a:avLst/>
          </a:prstGeom>
          <a:ln w="10160">
            <a:solidFill>
              <a:srgbClr val="20345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149840" y="0"/>
            <a:ext cx="2011680" cy="2788920"/>
          </a:xfrm>
          <a:prstGeom prst="line">
            <a:avLst/>
          </a:prstGeom>
          <a:ln w="10160">
            <a:solidFill>
              <a:srgbClr val="20345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25328" y="0"/>
            <a:ext cx="1536192" cy="2468880"/>
          </a:xfrm>
          <a:prstGeom prst="line">
            <a:avLst/>
          </a:prstGeom>
          <a:ln w="10160">
            <a:solidFill>
              <a:srgbClr val="20345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816" y="0"/>
            <a:ext cx="1060704" cy="2148840"/>
          </a:xfrm>
          <a:prstGeom prst="line">
            <a:avLst/>
          </a:prstGeom>
          <a:ln w="10160">
            <a:solidFill>
              <a:srgbClr val="20345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686800" y="914400"/>
            <a:ext cx="2377440" cy="2377440"/>
          </a:xfrm>
          <a:prstGeom prst="ellipse">
            <a:avLst/>
          </a:prstGeom>
          <a:solidFill>
            <a:srgbClr val="102B3A"/>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253728" y="1481328"/>
            <a:ext cx="1243584" cy="1243584"/>
          </a:xfrm>
          <a:prstGeom prst="ellipse">
            <a:avLst/>
          </a:prstGeom>
          <a:solidFill>
            <a:srgbClr val="0B0F19"/>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411480"/>
            <a:ext cx="914400" cy="274320"/>
          </a:xfrm>
          <a:prstGeom prst="rect">
            <a:avLst/>
          </a:prstGeom>
          <a:noFill/>
        </p:spPr>
        <p:txBody>
          <a:bodyPr wrap="square" lIns="54864" rIns="54864" tIns="54864" bIns="54864" anchor="t">
            <a:spAutoFit/>
          </a:bodyPr>
          <a:lstStyle/>
          <a:p>
            <a:pPr algn="l"/>
            <a:r>
              <a:rPr sz="1400" b="1" i="0">
                <a:solidFill>
                  <a:srgbClr val="00D2FF"/>
                </a:solidFill>
                <a:latin typeface="Aptos"/>
              </a:rPr>
              <a:t>247</a:t>
            </a:r>
          </a:p>
        </p:txBody>
      </p:sp>
      <p:sp>
        <p:nvSpPr>
          <p:cNvPr id="14" name="Rounded Rectangle 13"/>
          <p:cNvSpPr/>
          <p:nvPr/>
        </p:nvSpPr>
        <p:spPr>
          <a:xfrm>
            <a:off x="566928" y="1234440"/>
            <a:ext cx="3063240" cy="256032"/>
          </a:xfrm>
          <a:prstGeom prst="roundRect">
            <a:avLst/>
          </a:prstGeom>
          <a:solidFill>
            <a:srgbClr val="102B3A"/>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1243584"/>
            <a:ext cx="3063240" cy="201168"/>
          </a:xfrm>
          <a:prstGeom prst="rect">
            <a:avLst/>
          </a:prstGeom>
          <a:noFill/>
        </p:spPr>
        <p:txBody>
          <a:bodyPr wrap="square" lIns="9144" rIns="9144" tIns="9144" bIns="9144" anchor="t">
            <a:spAutoFit/>
          </a:bodyPr>
          <a:lstStyle/>
          <a:p>
            <a:pPr algn="ctr"/>
            <a:r>
              <a:rPr sz="800" b="1" i="0">
                <a:solidFill>
                  <a:srgbClr val="00D2FF"/>
                </a:solidFill>
                <a:latin typeface="Aptos"/>
              </a:rPr>
              <a:t>EXECUTIVE BRIEFING  |  ENTERPRISE UTILITY AI</a:t>
            </a:r>
          </a:p>
        </p:txBody>
      </p:sp>
      <p:sp>
        <p:nvSpPr>
          <p:cNvPr id="16" name="TextBox 15"/>
          <p:cNvSpPr txBox="1"/>
          <p:nvPr/>
        </p:nvSpPr>
        <p:spPr>
          <a:xfrm>
            <a:off x="566928" y="1737360"/>
            <a:ext cx="6537960" cy="1298448"/>
          </a:xfrm>
          <a:prstGeom prst="rect">
            <a:avLst/>
          </a:prstGeom>
          <a:noFill/>
        </p:spPr>
        <p:txBody>
          <a:bodyPr wrap="square" lIns="54864" rIns="54864" tIns="54864" bIns="54864" anchor="t">
            <a:spAutoFit/>
          </a:bodyPr>
          <a:lstStyle/>
          <a:p>
            <a:pPr algn="l"/>
            <a:r>
              <a:rPr sz="3000" b="1" i="0">
                <a:solidFill>
                  <a:srgbClr val="FFFFFF"/>
                </a:solidFill>
                <a:latin typeface="Aptos"/>
              </a:rPr>
              <a:t>Autonomous Voice AI
Infrastructure for BESCOM</a:t>
            </a:r>
          </a:p>
        </p:txBody>
      </p:sp>
      <p:sp>
        <p:nvSpPr>
          <p:cNvPr id="17" name="TextBox 16"/>
          <p:cNvSpPr txBox="1"/>
          <p:nvPr/>
        </p:nvSpPr>
        <p:spPr>
          <a:xfrm>
            <a:off x="603504" y="3310128"/>
            <a:ext cx="5806440" cy="658368"/>
          </a:xfrm>
          <a:prstGeom prst="rect">
            <a:avLst/>
          </a:prstGeom>
          <a:noFill/>
        </p:spPr>
        <p:txBody>
          <a:bodyPr wrap="square" lIns="54864" rIns="54864" tIns="54864" bIns="54864" anchor="t">
            <a:spAutoFit/>
          </a:bodyPr>
          <a:lstStyle/>
          <a:p>
            <a:pPr algn="l"/>
            <a:r>
              <a:rPr sz="1500" b="0" i="0">
                <a:solidFill>
                  <a:srgbClr val="CBD5E1"/>
                </a:solidFill>
                <a:latin typeface="Aptos"/>
              </a:rPr>
              <a:t>Slashing trade arrears, unlocking operational liquidity, and elevating 1912 citizen service with native Kannada voice intelligence</a:t>
            </a:r>
          </a:p>
        </p:txBody>
      </p:sp>
      <p:sp>
        <p:nvSpPr>
          <p:cNvPr id="18" name="Rounded Rectangle 17"/>
          <p:cNvSpPr/>
          <p:nvPr/>
        </p:nvSpPr>
        <p:spPr>
          <a:xfrm>
            <a:off x="566928" y="4681728"/>
            <a:ext cx="5989320" cy="621792"/>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855464"/>
            <a:ext cx="5623560" cy="228600"/>
          </a:xfrm>
          <a:prstGeom prst="rect">
            <a:avLst/>
          </a:prstGeom>
          <a:noFill/>
        </p:spPr>
        <p:txBody>
          <a:bodyPr wrap="square" lIns="54864" rIns="54864" tIns="54864" bIns="54864" anchor="t">
            <a:spAutoFit/>
          </a:bodyPr>
          <a:lstStyle/>
          <a:p>
            <a:pPr algn="l"/>
            <a:r>
              <a:rPr sz="1000" b="1" i="0">
                <a:solidFill>
                  <a:srgbClr val="FFFFFF"/>
                </a:solidFill>
                <a:latin typeface="Aptos"/>
              </a:rPr>
              <a:t>Prepared for: Sri Mahadeva, K.S.A.S  |  CFO &amp; Director (Finance), BESCOM</a:t>
            </a:r>
          </a:p>
        </p:txBody>
      </p:sp>
      <p:sp>
        <p:nvSpPr>
          <p:cNvPr id="20" name="TextBox 19"/>
          <p:cNvSpPr txBox="1"/>
          <p:nvPr/>
        </p:nvSpPr>
        <p:spPr>
          <a:xfrm>
            <a:off x="603504" y="5989320"/>
            <a:ext cx="4937760" cy="228600"/>
          </a:xfrm>
          <a:prstGeom prst="rect">
            <a:avLst/>
          </a:prstGeom>
          <a:noFill/>
        </p:spPr>
        <p:txBody>
          <a:bodyPr wrap="square" lIns="54864" rIns="54864" tIns="54864" bIns="54864" anchor="t">
            <a:spAutoFit/>
          </a:bodyPr>
          <a:lstStyle/>
          <a:p>
            <a:pPr algn="l"/>
            <a:r>
              <a:rPr sz="1000" b="0" i="0">
                <a:solidFill>
                  <a:srgbClr val="64748B"/>
                </a:solidFill>
                <a:latin typeface="Aptos"/>
              </a:rPr>
              <a:t>247AutogenV Team  •  In-person leadership briefing</a:t>
            </a:r>
          </a:p>
        </p:txBody>
      </p:sp>
      <p:cxnSp>
        <p:nvCxnSpPr>
          <p:cNvPr id="21" name="Connector 20"/>
          <p:cNvCxnSpPr/>
          <p:nvPr/>
        </p:nvCxnSpPr>
        <p:spPr>
          <a:xfrm>
            <a:off x="566928" y="6510528"/>
            <a:ext cx="11064240" cy="0"/>
          </a:xfrm>
          <a:prstGeom prst="line">
            <a:avLst/>
          </a:prstGeom>
          <a:ln w="10160">
            <a:solidFill>
              <a:srgbClr val="26324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6565392"/>
            <a:ext cx="7315200" cy="146304"/>
          </a:xfrm>
          <a:prstGeom prst="rect">
            <a:avLst/>
          </a:prstGeom>
          <a:noFill/>
        </p:spPr>
        <p:txBody>
          <a:bodyPr wrap="square" lIns="54864" rIns="54864" tIns="54864" bIns="54864" anchor="t">
            <a:spAutoFit/>
          </a:bodyPr>
          <a:lstStyle/>
          <a:p>
            <a:pPr algn="l"/>
            <a:r>
              <a:rPr sz="700" b="0" i="0">
                <a:solidFill>
                  <a:srgbClr val="64748B"/>
                </a:solidFill>
                <a:latin typeface="Aptos"/>
              </a:rPr>
              <a:t>247AutogenV  |  Confidential executive briefing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66928" y="310896"/>
            <a:ext cx="6858000" cy="228600"/>
          </a:xfrm>
          <a:prstGeom prst="rect">
            <a:avLst/>
          </a:prstGeom>
          <a:noFill/>
        </p:spPr>
        <p:txBody>
          <a:bodyPr wrap="square" lIns="54864" rIns="54864" tIns="54864" bIns="54864" anchor="t">
            <a:spAutoFit/>
          </a:bodyPr>
          <a:lstStyle/>
          <a:p>
            <a:pPr algn="l"/>
            <a:r>
              <a:rPr sz="900" b="1" i="0">
                <a:solidFill>
                  <a:srgbClr val="00D2FF"/>
                </a:solidFill>
                <a:latin typeface="Aptos"/>
              </a:rPr>
              <a:t>01  |  STRATEGIC FINANCE BASELINE</a:t>
            </a:r>
          </a:p>
        </p:txBody>
      </p:sp>
      <p:sp>
        <p:nvSpPr>
          <p:cNvPr id="3" name="TextBox 2"/>
          <p:cNvSpPr txBox="1"/>
          <p:nvPr/>
        </p:nvSpPr>
        <p:spPr>
          <a:xfrm>
            <a:off x="566928" y="603504"/>
            <a:ext cx="10607040" cy="512064"/>
          </a:xfrm>
          <a:prstGeom prst="rect">
            <a:avLst/>
          </a:prstGeom>
          <a:noFill/>
        </p:spPr>
        <p:txBody>
          <a:bodyPr wrap="square" lIns="54864" rIns="54864" tIns="54864" bIns="54864" anchor="t">
            <a:spAutoFit/>
          </a:bodyPr>
          <a:lstStyle/>
          <a:p>
            <a:pPr algn="l"/>
            <a:r>
              <a:rPr sz="2500" b="1" i="0">
                <a:solidFill>
                  <a:srgbClr val="FFFFFF"/>
                </a:solidFill>
                <a:latin typeface="Aptos"/>
              </a:rPr>
              <a:t>Liquidity is constrained by scale, finance cost, and reconciliation friction</a:t>
            </a:r>
          </a:p>
        </p:txBody>
      </p:sp>
      <p:sp>
        <p:nvSpPr>
          <p:cNvPr id="4" name="TextBox 3"/>
          <p:cNvSpPr txBox="1"/>
          <p:nvPr/>
        </p:nvSpPr>
        <p:spPr>
          <a:xfrm>
            <a:off x="585216" y="1170432"/>
            <a:ext cx="10789920" cy="320040"/>
          </a:xfrm>
          <a:prstGeom prst="rect">
            <a:avLst/>
          </a:prstGeom>
          <a:noFill/>
        </p:spPr>
        <p:txBody>
          <a:bodyPr wrap="square" lIns="54864" rIns="54864" tIns="54864" bIns="54864" anchor="t">
            <a:spAutoFit/>
          </a:bodyPr>
          <a:lstStyle/>
          <a:p>
            <a:pPr algn="l"/>
            <a:r>
              <a:rPr sz="1000" b="0" i="0">
                <a:solidFill>
                  <a:srgbClr val="CBD5E1"/>
                </a:solidFill>
                <a:latin typeface="Aptos"/>
              </a:rPr>
              <a:t>FY24–25 baseline: user-provided briefing figures paired with primary-report audit observations</a:t>
            </a:r>
          </a:p>
        </p:txBody>
      </p:sp>
      <p:sp>
        <p:nvSpPr>
          <p:cNvPr id="5" name="TextBox 4"/>
          <p:cNvSpPr txBox="1"/>
          <p:nvPr/>
        </p:nvSpPr>
        <p:spPr>
          <a:xfrm>
            <a:off x="11109960" y="347472"/>
            <a:ext cx="457200" cy="228600"/>
          </a:xfrm>
          <a:prstGeom prst="rect">
            <a:avLst/>
          </a:prstGeom>
          <a:noFill/>
        </p:spPr>
        <p:txBody>
          <a:bodyPr wrap="square" lIns="54864" rIns="54864" tIns="54864" bIns="54864" anchor="t">
            <a:spAutoFit/>
          </a:bodyPr>
          <a:lstStyle/>
          <a:p>
            <a:pPr algn="r"/>
            <a:r>
              <a:rPr sz="1000" b="1" i="0">
                <a:solidFill>
                  <a:srgbClr val="64748B"/>
                </a:solidFill>
                <a:latin typeface="Aptos"/>
              </a:rPr>
              <a:t>02</a:t>
            </a:r>
          </a:p>
        </p:txBody>
      </p:sp>
      <p:sp>
        <p:nvSpPr>
          <p:cNvPr id="6" name="Rounded Rectangle 5"/>
          <p:cNvSpPr/>
          <p:nvPr/>
        </p:nvSpPr>
        <p:spPr>
          <a:xfrm>
            <a:off x="566928" y="1737360"/>
            <a:ext cx="3429000" cy="1417320"/>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566928" y="1783080"/>
            <a:ext cx="3429000" cy="0"/>
          </a:xfrm>
          <a:prstGeom prst="line">
            <a:avLst/>
          </a:prstGeom>
          <a:ln w="25400">
            <a:solidFill>
              <a:srgbClr val="00D2F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1938528"/>
            <a:ext cx="3099816" cy="384048"/>
          </a:xfrm>
          <a:prstGeom prst="rect">
            <a:avLst/>
          </a:prstGeom>
          <a:noFill/>
        </p:spPr>
        <p:txBody>
          <a:bodyPr wrap="square" lIns="54864" rIns="54864" tIns="54864" bIns="54864" anchor="t">
            <a:spAutoFit/>
          </a:bodyPr>
          <a:lstStyle/>
          <a:p>
            <a:pPr algn="l"/>
            <a:r>
              <a:rPr sz="2300" b="1" i="0">
                <a:solidFill>
                  <a:srgbClr val="FFFFFF"/>
                </a:solidFill>
                <a:latin typeface="Aptos"/>
              </a:rPr>
              <a:t>₹5,175.84 Cr</a:t>
            </a:r>
          </a:p>
        </p:txBody>
      </p:sp>
      <p:sp>
        <p:nvSpPr>
          <p:cNvPr id="9" name="TextBox 8"/>
          <p:cNvSpPr txBox="1"/>
          <p:nvPr/>
        </p:nvSpPr>
        <p:spPr>
          <a:xfrm>
            <a:off x="731520" y="2395728"/>
            <a:ext cx="3099816" cy="256032"/>
          </a:xfrm>
          <a:prstGeom prst="rect">
            <a:avLst/>
          </a:prstGeom>
          <a:noFill/>
        </p:spPr>
        <p:txBody>
          <a:bodyPr wrap="square" lIns="54864" rIns="54864" tIns="54864" bIns="54864" anchor="t">
            <a:spAutoFit/>
          </a:bodyPr>
          <a:lstStyle/>
          <a:p>
            <a:pPr algn="l"/>
            <a:r>
              <a:rPr sz="800" b="1" i="0">
                <a:solidFill>
                  <a:srgbClr val="00D2FF"/>
                </a:solidFill>
                <a:latin typeface="Aptos"/>
              </a:rPr>
              <a:t>CLOSING TRADE RECEIVABLES</a:t>
            </a:r>
          </a:p>
        </p:txBody>
      </p:sp>
      <p:sp>
        <p:nvSpPr>
          <p:cNvPr id="10" name="TextBox 9"/>
          <p:cNvSpPr txBox="1"/>
          <p:nvPr/>
        </p:nvSpPr>
        <p:spPr>
          <a:xfrm>
            <a:off x="731520" y="2679191"/>
            <a:ext cx="3099816" cy="393191"/>
          </a:xfrm>
          <a:prstGeom prst="rect">
            <a:avLst/>
          </a:prstGeom>
          <a:noFill/>
        </p:spPr>
        <p:txBody>
          <a:bodyPr wrap="square" lIns="54864" rIns="54864" tIns="54864" bIns="54864" anchor="t">
            <a:spAutoFit/>
          </a:bodyPr>
          <a:lstStyle/>
          <a:p>
            <a:pPr algn="l"/>
            <a:r>
              <a:rPr sz="900" b="0" i="0">
                <a:solidFill>
                  <a:srgbClr val="CBD5E1"/>
                </a:solidFill>
                <a:latin typeface="Aptos"/>
              </a:rPr>
              <a:t>Briefing baseline. Adjusted debtors cited in brief: ₹5,956.21 Cr.</a:t>
            </a:r>
          </a:p>
        </p:txBody>
      </p:sp>
      <p:sp>
        <p:nvSpPr>
          <p:cNvPr id="11" name="Rounded Rectangle 10"/>
          <p:cNvSpPr/>
          <p:nvPr/>
        </p:nvSpPr>
        <p:spPr>
          <a:xfrm>
            <a:off x="4370832" y="1737360"/>
            <a:ext cx="3429000" cy="1417320"/>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4370832" y="1783080"/>
            <a:ext cx="3429000" cy="0"/>
          </a:xfrm>
          <a:prstGeom prst="line">
            <a:avLst/>
          </a:prstGeom>
          <a:ln w="25400">
            <a:solidFill>
              <a:srgbClr val="38EF7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35424" y="1938528"/>
            <a:ext cx="3099816" cy="384048"/>
          </a:xfrm>
          <a:prstGeom prst="rect">
            <a:avLst/>
          </a:prstGeom>
          <a:noFill/>
        </p:spPr>
        <p:txBody>
          <a:bodyPr wrap="square" lIns="54864" rIns="54864" tIns="54864" bIns="54864" anchor="t">
            <a:spAutoFit/>
          </a:bodyPr>
          <a:lstStyle/>
          <a:p>
            <a:pPr algn="l"/>
            <a:r>
              <a:rPr sz="2300" b="1" i="0">
                <a:solidFill>
                  <a:srgbClr val="FFFFFF"/>
                </a:solidFill>
                <a:latin typeface="Aptos"/>
              </a:rPr>
              <a:t>₹2,288.51 Cr</a:t>
            </a:r>
          </a:p>
        </p:txBody>
      </p:sp>
      <p:sp>
        <p:nvSpPr>
          <p:cNvPr id="14" name="TextBox 13"/>
          <p:cNvSpPr txBox="1"/>
          <p:nvPr/>
        </p:nvSpPr>
        <p:spPr>
          <a:xfrm>
            <a:off x="4535424" y="2395728"/>
            <a:ext cx="3099816" cy="256032"/>
          </a:xfrm>
          <a:prstGeom prst="rect">
            <a:avLst/>
          </a:prstGeom>
          <a:noFill/>
        </p:spPr>
        <p:txBody>
          <a:bodyPr wrap="square" lIns="54864" rIns="54864" tIns="54864" bIns="54864" anchor="t">
            <a:spAutoFit/>
          </a:bodyPr>
          <a:lstStyle/>
          <a:p>
            <a:pPr algn="l"/>
            <a:r>
              <a:rPr sz="800" b="1" i="0">
                <a:solidFill>
                  <a:srgbClr val="38EF7D"/>
                </a:solidFill>
                <a:latin typeface="Aptos"/>
              </a:rPr>
              <a:t>FINANCE COSTS</a:t>
            </a:r>
          </a:p>
        </p:txBody>
      </p:sp>
      <p:sp>
        <p:nvSpPr>
          <p:cNvPr id="15" name="TextBox 14"/>
          <p:cNvSpPr txBox="1"/>
          <p:nvPr/>
        </p:nvSpPr>
        <p:spPr>
          <a:xfrm>
            <a:off x="4535424" y="2679191"/>
            <a:ext cx="3099816" cy="393191"/>
          </a:xfrm>
          <a:prstGeom prst="rect">
            <a:avLst/>
          </a:prstGeom>
          <a:noFill/>
        </p:spPr>
        <p:txBody>
          <a:bodyPr wrap="square" lIns="54864" rIns="54864" tIns="54864" bIns="54864" anchor="t">
            <a:spAutoFit/>
          </a:bodyPr>
          <a:lstStyle/>
          <a:p>
            <a:pPr algn="l"/>
            <a:r>
              <a:rPr sz="900" b="0" i="0">
                <a:solidFill>
                  <a:srgbClr val="CBD5E1"/>
                </a:solidFill>
                <a:latin typeface="Aptos"/>
              </a:rPr>
              <a:t>Briefing baseline. Report should be reconciled to the final signed statements before circulation.</a:t>
            </a:r>
          </a:p>
        </p:txBody>
      </p:sp>
      <p:sp>
        <p:nvSpPr>
          <p:cNvPr id="16" name="Rounded Rectangle 15"/>
          <p:cNvSpPr/>
          <p:nvPr/>
        </p:nvSpPr>
        <p:spPr>
          <a:xfrm>
            <a:off x="8174736" y="1737360"/>
            <a:ext cx="3429000" cy="1417320"/>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8174736" y="1783080"/>
            <a:ext cx="3429000" cy="0"/>
          </a:xfrm>
          <a:prstGeom prst="line">
            <a:avLst/>
          </a:prstGeom>
          <a:ln w="25400">
            <a:solidFill>
              <a:srgbClr val="00D2F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339327" y="1938528"/>
            <a:ext cx="3099816" cy="384048"/>
          </a:xfrm>
          <a:prstGeom prst="rect">
            <a:avLst/>
          </a:prstGeom>
          <a:noFill/>
        </p:spPr>
        <p:txBody>
          <a:bodyPr wrap="square" lIns="54864" rIns="54864" tIns="54864" bIns="54864" anchor="t">
            <a:spAutoFit/>
          </a:bodyPr>
          <a:lstStyle/>
          <a:p>
            <a:pPr algn="l"/>
            <a:r>
              <a:rPr sz="2300" b="1" i="0">
                <a:solidFill>
                  <a:srgbClr val="FFFFFF"/>
                </a:solidFill>
                <a:latin typeface="Aptos"/>
              </a:rPr>
              <a:t>14.94 Mn</a:t>
            </a:r>
          </a:p>
        </p:txBody>
      </p:sp>
      <p:sp>
        <p:nvSpPr>
          <p:cNvPr id="19" name="TextBox 18"/>
          <p:cNvSpPr txBox="1"/>
          <p:nvPr/>
        </p:nvSpPr>
        <p:spPr>
          <a:xfrm>
            <a:off x="8339327" y="2395728"/>
            <a:ext cx="3099816" cy="256032"/>
          </a:xfrm>
          <a:prstGeom prst="rect">
            <a:avLst/>
          </a:prstGeom>
          <a:noFill/>
        </p:spPr>
        <p:txBody>
          <a:bodyPr wrap="square" lIns="54864" rIns="54864" tIns="54864" bIns="54864" anchor="t">
            <a:spAutoFit/>
          </a:bodyPr>
          <a:lstStyle/>
          <a:p>
            <a:pPr algn="l"/>
            <a:r>
              <a:rPr sz="800" b="1" i="0">
                <a:solidFill>
                  <a:srgbClr val="00D2FF"/>
                </a:solidFill>
                <a:latin typeface="Aptos"/>
              </a:rPr>
              <a:t>CONSUMERS SERVED</a:t>
            </a:r>
          </a:p>
        </p:txBody>
      </p:sp>
      <p:sp>
        <p:nvSpPr>
          <p:cNvPr id="20" name="TextBox 19"/>
          <p:cNvSpPr txBox="1"/>
          <p:nvPr/>
        </p:nvSpPr>
        <p:spPr>
          <a:xfrm>
            <a:off x="8339327" y="2679191"/>
            <a:ext cx="3099816" cy="393191"/>
          </a:xfrm>
          <a:prstGeom prst="rect">
            <a:avLst/>
          </a:prstGeom>
          <a:noFill/>
        </p:spPr>
        <p:txBody>
          <a:bodyPr wrap="square" lIns="54864" rIns="54864" tIns="54864" bIns="54864" anchor="t">
            <a:spAutoFit/>
          </a:bodyPr>
          <a:lstStyle/>
          <a:p>
            <a:pPr algn="l"/>
            <a:r>
              <a:rPr sz="900" b="0" i="0">
                <a:solidFill>
                  <a:srgbClr val="CBD5E1"/>
                </a:solidFill>
                <a:latin typeface="Aptos"/>
              </a:rPr>
              <a:t>Briefing baseline across BESCOM’s eight-district service territory.</a:t>
            </a:r>
          </a:p>
        </p:txBody>
      </p:sp>
      <p:sp>
        <p:nvSpPr>
          <p:cNvPr id="21" name="Rounded Rectangle 20"/>
          <p:cNvSpPr/>
          <p:nvPr/>
        </p:nvSpPr>
        <p:spPr>
          <a:xfrm>
            <a:off x="566928" y="3520440"/>
            <a:ext cx="5486400" cy="2377440"/>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767328"/>
            <a:ext cx="3200400" cy="210312"/>
          </a:xfrm>
          <a:prstGeom prst="rect">
            <a:avLst/>
          </a:prstGeom>
          <a:noFill/>
        </p:spPr>
        <p:txBody>
          <a:bodyPr wrap="square" lIns="54864" rIns="54864" tIns="54864" bIns="54864" anchor="t">
            <a:spAutoFit/>
          </a:bodyPr>
          <a:lstStyle/>
          <a:p>
            <a:pPr algn="l"/>
            <a:r>
              <a:rPr sz="900" b="1" i="0">
                <a:solidFill>
                  <a:srgbClr val="F6C453"/>
                </a:solidFill>
                <a:latin typeface="Aptos"/>
              </a:rPr>
              <a:t>AUDIT-RELEVANT FRICTION</a:t>
            </a:r>
          </a:p>
        </p:txBody>
      </p:sp>
      <p:sp>
        <p:nvSpPr>
          <p:cNvPr id="23" name="Oval 22"/>
          <p:cNvSpPr/>
          <p:nvPr/>
        </p:nvSpPr>
        <p:spPr>
          <a:xfrm>
            <a:off x="804672" y="4206240"/>
            <a:ext cx="109728" cy="109728"/>
          </a:xfrm>
          <a:prstGeom prst="ellipse">
            <a:avLst/>
          </a:prstGeom>
          <a:solidFill>
            <a:srgbClr val="F6C453"/>
          </a:solidFill>
          <a:ln w="10160">
            <a:solidFill>
              <a:srgbClr val="F6C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133087"/>
            <a:ext cx="4800600" cy="475488"/>
          </a:xfrm>
          <a:prstGeom prst="rect">
            <a:avLst/>
          </a:prstGeom>
          <a:noFill/>
        </p:spPr>
        <p:txBody>
          <a:bodyPr wrap="square" lIns="54864" rIns="54864" tIns="54864" bIns="54864">
            <a:spAutoFit/>
          </a:bodyPr>
          <a:lstStyle/>
          <a:p>
            <a:pPr algn="l"/>
            <a:r>
              <a:rPr sz="1100" b="1">
                <a:solidFill>
                  <a:srgbClr val="F6C453"/>
                </a:solidFill>
                <a:latin typeface="Aptos"/>
              </a:rPr>
              <a:t>TRM → ledger</a:t>
            </a:r>
            <a:r>
              <a:rPr sz="1100" b="0">
                <a:solidFill>
                  <a:srgbClr val="CBD5E1"/>
                </a:solidFill>
                <a:latin typeface="Aptos"/>
              </a:rPr>
              <a:t>₹80.64 Cr debit item in GL 23.898 pending reconciliation as at 31 Mar 2025.</a:t>
            </a:r>
          </a:p>
        </p:txBody>
      </p:sp>
      <p:sp>
        <p:nvSpPr>
          <p:cNvPr id="25" name="Oval 24"/>
          <p:cNvSpPr/>
          <p:nvPr/>
        </p:nvSpPr>
        <p:spPr>
          <a:xfrm>
            <a:off x="804672" y="4791456"/>
            <a:ext cx="109728" cy="109728"/>
          </a:xfrm>
          <a:prstGeom prst="ellipse">
            <a:avLst/>
          </a:prstGeom>
          <a:solidFill>
            <a:srgbClr val="FF6B6B"/>
          </a:solidFill>
          <a:ln w="1016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718304"/>
            <a:ext cx="4800600" cy="530352"/>
          </a:xfrm>
          <a:prstGeom prst="rect">
            <a:avLst/>
          </a:prstGeom>
          <a:noFill/>
        </p:spPr>
        <p:txBody>
          <a:bodyPr wrap="square" lIns="54864" rIns="54864" tIns="54864" bIns="54864">
            <a:spAutoFit/>
          </a:bodyPr>
          <a:lstStyle/>
          <a:p>
            <a:pPr algn="l"/>
            <a:r>
              <a:rPr sz="1100" b="1">
                <a:solidFill>
                  <a:srgbClr val="FF6B6B"/>
                </a:solidFill>
                <a:latin typeface="Aptos"/>
              </a:rPr>
              <a:t>Collateral reporting</a:t>
            </a:r>
            <a:r>
              <a:rPr sz="1100" b="0">
                <a:solidFill>
                  <a:srgbClr val="CBD5E1"/>
                </a:solidFill>
                <a:latin typeface="Aptos"/>
              </a:rPr>
              <a:t>Quarterly returns versus books showed differences from ₹1,813.67 Cr to ₹6,937.53 Cr.</a:t>
            </a:r>
          </a:p>
        </p:txBody>
      </p:sp>
      <p:sp>
        <p:nvSpPr>
          <p:cNvPr id="27" name="Oval 26"/>
          <p:cNvSpPr/>
          <p:nvPr/>
        </p:nvSpPr>
        <p:spPr>
          <a:xfrm>
            <a:off x="804672" y="5449824"/>
            <a:ext cx="109728" cy="109728"/>
          </a:xfrm>
          <a:prstGeom prst="ellipse">
            <a:avLst/>
          </a:prstGeom>
          <a:solidFill>
            <a:srgbClr val="00D2FF"/>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376672"/>
            <a:ext cx="4800600" cy="402336"/>
          </a:xfrm>
          <a:prstGeom prst="rect">
            <a:avLst/>
          </a:prstGeom>
          <a:noFill/>
        </p:spPr>
        <p:txBody>
          <a:bodyPr wrap="square" lIns="54864" rIns="54864" tIns="54864" bIns="54864">
            <a:spAutoFit/>
          </a:bodyPr>
          <a:lstStyle/>
          <a:p>
            <a:pPr algn="l"/>
            <a:r>
              <a:rPr sz="1100" b="1">
                <a:solidFill>
                  <a:srgbClr val="00D2FF"/>
                </a:solidFill>
                <a:latin typeface="Aptos"/>
              </a:rPr>
              <a:t>Control environment</a:t>
            </a:r>
            <a:r>
              <a:rPr sz="1100" b="0">
                <a:solidFill>
                  <a:srgbClr val="CBD5E1"/>
                </a:solidFill>
                <a:latin typeface="Aptos"/>
              </a:rPr>
              <a:t>Auditors reported no non-disableable audit-trail feature in accounting software.</a:t>
            </a:r>
          </a:p>
        </p:txBody>
      </p:sp>
      <p:sp>
        <p:nvSpPr>
          <p:cNvPr id="29" name="Rounded Rectangle 28"/>
          <p:cNvSpPr/>
          <p:nvPr/>
        </p:nvSpPr>
        <p:spPr>
          <a:xfrm>
            <a:off x="6309360" y="3520440"/>
            <a:ext cx="5294376" cy="2377440"/>
          </a:xfrm>
          <a:prstGeom prst="roundRect">
            <a:avLst/>
          </a:prstGeom>
          <a:solidFill>
            <a:srgbClr val="101827"/>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3767328"/>
            <a:ext cx="1828800" cy="210312"/>
          </a:xfrm>
          <a:prstGeom prst="rect">
            <a:avLst/>
          </a:prstGeom>
          <a:noFill/>
        </p:spPr>
        <p:txBody>
          <a:bodyPr wrap="square" lIns="54864" rIns="54864" tIns="54864" bIns="54864" anchor="t">
            <a:spAutoFit/>
          </a:bodyPr>
          <a:lstStyle/>
          <a:p>
            <a:pPr algn="l"/>
            <a:r>
              <a:rPr sz="900" b="1" i="0">
                <a:solidFill>
                  <a:srgbClr val="38EF7D"/>
                </a:solidFill>
                <a:latin typeface="Aptos"/>
              </a:rPr>
              <a:t>CFO QUESTION</a:t>
            </a:r>
          </a:p>
        </p:txBody>
      </p:sp>
      <p:sp>
        <p:nvSpPr>
          <p:cNvPr id="31" name="TextBox 30"/>
          <p:cNvSpPr txBox="1"/>
          <p:nvPr/>
        </p:nvSpPr>
        <p:spPr>
          <a:xfrm>
            <a:off x="6565392" y="4160520"/>
            <a:ext cx="4553712" cy="804672"/>
          </a:xfrm>
          <a:prstGeom prst="rect">
            <a:avLst/>
          </a:prstGeom>
          <a:noFill/>
        </p:spPr>
        <p:txBody>
          <a:bodyPr wrap="square" lIns="54864" rIns="54864" tIns="54864" bIns="54864" anchor="t">
            <a:spAutoFit/>
          </a:bodyPr>
          <a:lstStyle/>
          <a:p>
            <a:pPr algn="l"/>
            <a:r>
              <a:rPr sz="2000" b="1" i="0">
                <a:solidFill>
                  <a:srgbClr val="FFFFFF"/>
                </a:solidFill>
                <a:latin typeface="Aptos"/>
              </a:rPr>
              <a:t>Where can a controlled automation layer improve cash conversion and service resilience without creating another reconciliation surface?</a:t>
            </a:r>
          </a:p>
        </p:txBody>
      </p:sp>
      <p:sp>
        <p:nvSpPr>
          <p:cNvPr id="32" name="TextBox 31"/>
          <p:cNvSpPr txBox="1"/>
          <p:nvPr/>
        </p:nvSpPr>
        <p:spPr>
          <a:xfrm>
            <a:off x="6565392" y="5239512"/>
            <a:ext cx="4553712" cy="256032"/>
          </a:xfrm>
          <a:prstGeom prst="rect">
            <a:avLst/>
          </a:prstGeom>
          <a:noFill/>
        </p:spPr>
        <p:txBody>
          <a:bodyPr wrap="square" lIns="54864" rIns="54864" tIns="54864" bIns="54864" anchor="t">
            <a:spAutoFit/>
          </a:bodyPr>
          <a:lstStyle/>
          <a:p>
            <a:pPr algn="l"/>
            <a:r>
              <a:rPr sz="1000" b="0" i="0">
                <a:solidFill>
                  <a:srgbClr val="CBD5E1"/>
                </a:solidFill>
                <a:latin typeface="Aptos"/>
              </a:rPr>
              <a:t>Decision lens: liquidity • revenue assurance • cost-to-serve • auditability</a:t>
            </a:r>
          </a:p>
        </p:txBody>
      </p:sp>
      <p:cxnSp>
        <p:nvCxnSpPr>
          <p:cNvPr id="33" name="Connector 32"/>
          <p:cNvCxnSpPr/>
          <p:nvPr/>
        </p:nvCxnSpPr>
        <p:spPr>
          <a:xfrm>
            <a:off x="566928" y="6510528"/>
            <a:ext cx="11064240" cy="0"/>
          </a:xfrm>
          <a:prstGeom prst="line">
            <a:avLst/>
          </a:prstGeom>
          <a:ln w="10160">
            <a:solidFill>
              <a:srgbClr val="26324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6565392"/>
            <a:ext cx="7315200" cy="146304"/>
          </a:xfrm>
          <a:prstGeom prst="rect">
            <a:avLst/>
          </a:prstGeom>
          <a:noFill/>
        </p:spPr>
        <p:txBody>
          <a:bodyPr wrap="square" lIns="54864" rIns="54864" tIns="54864" bIns="54864" anchor="t">
            <a:spAutoFit/>
          </a:bodyPr>
          <a:lstStyle/>
          <a:p>
            <a:pPr algn="l"/>
            <a:r>
              <a:rPr sz="700" b="0" i="0">
                <a:solidFill>
                  <a:srgbClr val="64748B"/>
                </a:solidFill>
                <a:latin typeface="Aptos"/>
              </a:rPr>
              <a:t>Source: BESCOM FY24–25 report, official domain | Briefing figures marked explicitly where report text was not independently matched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66928" y="310896"/>
            <a:ext cx="6858000" cy="228600"/>
          </a:xfrm>
          <a:prstGeom prst="rect">
            <a:avLst/>
          </a:prstGeom>
          <a:noFill/>
        </p:spPr>
        <p:txBody>
          <a:bodyPr wrap="square" lIns="54864" rIns="54864" tIns="54864" bIns="54864" anchor="t">
            <a:spAutoFit/>
          </a:bodyPr>
          <a:lstStyle/>
          <a:p>
            <a:pPr algn="l"/>
            <a:r>
              <a:rPr sz="900" b="1" i="0">
                <a:solidFill>
                  <a:srgbClr val="00D2FF"/>
                </a:solidFill>
                <a:latin typeface="Aptos"/>
              </a:rPr>
              <a:t>02  |  SOLUTION ONE</a:t>
            </a:r>
          </a:p>
        </p:txBody>
      </p:sp>
      <p:sp>
        <p:nvSpPr>
          <p:cNvPr id="3" name="TextBox 2"/>
          <p:cNvSpPr txBox="1"/>
          <p:nvPr/>
        </p:nvSpPr>
        <p:spPr>
          <a:xfrm>
            <a:off x="566928" y="603504"/>
            <a:ext cx="10607040" cy="512064"/>
          </a:xfrm>
          <a:prstGeom prst="rect">
            <a:avLst/>
          </a:prstGeom>
          <a:noFill/>
        </p:spPr>
        <p:txBody>
          <a:bodyPr wrap="square" lIns="54864" rIns="54864" tIns="54864" bIns="54864" anchor="t">
            <a:spAutoFit/>
          </a:bodyPr>
          <a:lstStyle/>
          <a:p>
            <a:pPr algn="l"/>
            <a:r>
              <a:rPr sz="2500" b="1" i="0">
                <a:solidFill>
                  <a:srgbClr val="FFFFFF"/>
                </a:solidFill>
                <a:latin typeface="Aptos"/>
              </a:rPr>
              <a:t>Native Kannada voice for 1912: absorb demand without adding queue pressure</a:t>
            </a:r>
          </a:p>
        </p:txBody>
      </p:sp>
      <p:sp>
        <p:nvSpPr>
          <p:cNvPr id="4" name="TextBox 3"/>
          <p:cNvSpPr txBox="1"/>
          <p:nvPr/>
        </p:nvSpPr>
        <p:spPr>
          <a:xfrm>
            <a:off x="585216" y="1170432"/>
            <a:ext cx="10789920" cy="320040"/>
          </a:xfrm>
          <a:prstGeom prst="rect">
            <a:avLst/>
          </a:prstGeom>
          <a:noFill/>
        </p:spPr>
        <p:txBody>
          <a:bodyPr wrap="square" lIns="54864" rIns="54864" tIns="54864" bIns="54864" anchor="t">
            <a:spAutoFit/>
          </a:bodyPr>
          <a:lstStyle/>
          <a:p>
            <a:pPr algn="l"/>
            <a:r>
              <a:rPr sz="1000" b="0" i="0">
                <a:solidFill>
                  <a:srgbClr val="CBD5E1"/>
                </a:solidFill>
                <a:latin typeface="Aptos"/>
              </a:rPr>
              <a:t>A service-resilience layer, subject to BESCOM CRM / DAS / SCADA validation</a:t>
            </a:r>
          </a:p>
        </p:txBody>
      </p:sp>
      <p:sp>
        <p:nvSpPr>
          <p:cNvPr id="5" name="TextBox 4"/>
          <p:cNvSpPr txBox="1"/>
          <p:nvPr/>
        </p:nvSpPr>
        <p:spPr>
          <a:xfrm>
            <a:off x="11109960" y="347472"/>
            <a:ext cx="457200" cy="228600"/>
          </a:xfrm>
          <a:prstGeom prst="rect">
            <a:avLst/>
          </a:prstGeom>
          <a:noFill/>
        </p:spPr>
        <p:txBody>
          <a:bodyPr wrap="square" lIns="54864" rIns="54864" tIns="54864" bIns="54864" anchor="t">
            <a:spAutoFit/>
          </a:bodyPr>
          <a:lstStyle/>
          <a:p>
            <a:pPr algn="r"/>
            <a:r>
              <a:rPr sz="1000" b="1" i="0">
                <a:solidFill>
                  <a:srgbClr val="64748B"/>
                </a:solidFill>
                <a:latin typeface="Aptos"/>
              </a:rPr>
              <a:t>03</a:t>
            </a:r>
          </a:p>
        </p:txBody>
      </p:sp>
      <p:sp>
        <p:nvSpPr>
          <p:cNvPr id="6" name="Rounded Rectangle 5"/>
          <p:cNvSpPr/>
          <p:nvPr/>
        </p:nvSpPr>
        <p:spPr>
          <a:xfrm>
            <a:off x="566928" y="1719072"/>
            <a:ext cx="3703320" cy="4480560"/>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65960"/>
            <a:ext cx="2743200" cy="228600"/>
          </a:xfrm>
          <a:prstGeom prst="rect">
            <a:avLst/>
          </a:prstGeom>
          <a:noFill/>
        </p:spPr>
        <p:txBody>
          <a:bodyPr wrap="square" lIns="54864" rIns="54864" tIns="54864" bIns="54864" anchor="t">
            <a:spAutoFit/>
          </a:bodyPr>
          <a:lstStyle/>
          <a:p>
            <a:pPr algn="l"/>
            <a:r>
              <a:rPr sz="900" b="1" i="0">
                <a:solidFill>
                  <a:srgbClr val="00D2FF"/>
                </a:solidFill>
                <a:latin typeface="Aptos"/>
              </a:rPr>
              <a:t>CALLER EXPERIENCE</a:t>
            </a:r>
          </a:p>
        </p:txBody>
      </p:sp>
      <p:sp>
        <p:nvSpPr>
          <p:cNvPr id="8" name="TextBox 7"/>
          <p:cNvSpPr txBox="1"/>
          <p:nvPr/>
        </p:nvSpPr>
        <p:spPr>
          <a:xfrm>
            <a:off x="822960" y="2450592"/>
            <a:ext cx="2834640" cy="713232"/>
          </a:xfrm>
          <a:prstGeom prst="rect">
            <a:avLst/>
          </a:prstGeom>
          <a:noFill/>
        </p:spPr>
        <p:txBody>
          <a:bodyPr wrap="square" lIns="54864" rIns="54864" tIns="54864" bIns="54864" anchor="t">
            <a:spAutoFit/>
          </a:bodyPr>
          <a:lstStyle/>
          <a:p>
            <a:pPr algn="l"/>
            <a:r>
              <a:rPr sz="2500" b="1" i="0">
                <a:solidFill>
                  <a:srgbClr val="FFFFFF"/>
                </a:solidFill>
                <a:latin typeface="Aptos"/>
              </a:rPr>
              <a:t>“Current hogide.
Transformer spark.”</a:t>
            </a:r>
          </a:p>
        </p:txBody>
      </p:sp>
      <p:sp>
        <p:nvSpPr>
          <p:cNvPr id="9" name="TextBox 8"/>
          <p:cNvSpPr txBox="1"/>
          <p:nvPr/>
        </p:nvSpPr>
        <p:spPr>
          <a:xfrm>
            <a:off x="822960" y="3383280"/>
            <a:ext cx="2834640" cy="804672"/>
          </a:xfrm>
          <a:prstGeom prst="rect">
            <a:avLst/>
          </a:prstGeom>
          <a:noFill/>
        </p:spPr>
        <p:txBody>
          <a:bodyPr wrap="square" lIns="54864" rIns="54864" tIns="54864" bIns="54864" anchor="t">
            <a:spAutoFit/>
          </a:bodyPr>
          <a:lstStyle/>
          <a:p>
            <a:pPr algn="l"/>
            <a:r>
              <a:rPr sz="1300" b="0" i="0">
                <a:solidFill>
                  <a:srgbClr val="CBD5E1"/>
                </a:solidFill>
                <a:latin typeface="Aptos"/>
              </a:rPr>
              <a:t>Recognise colloquial Kannada power vocabulary, capture the caller’s intent, and route the case with a structured record.</a:t>
            </a:r>
          </a:p>
        </p:txBody>
      </p:sp>
      <p:sp>
        <p:nvSpPr>
          <p:cNvPr id="10" name="Rounded Rectangle 9"/>
          <p:cNvSpPr/>
          <p:nvPr/>
        </p:nvSpPr>
        <p:spPr>
          <a:xfrm>
            <a:off x="822960" y="4608576"/>
            <a:ext cx="1417320" cy="256032"/>
          </a:xfrm>
          <a:prstGeom prst="roundRect">
            <a:avLst/>
          </a:prstGeom>
          <a:solidFill>
            <a:srgbClr val="102B3A"/>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617720"/>
            <a:ext cx="1417320" cy="201168"/>
          </a:xfrm>
          <a:prstGeom prst="rect">
            <a:avLst/>
          </a:prstGeom>
          <a:noFill/>
        </p:spPr>
        <p:txBody>
          <a:bodyPr wrap="square" lIns="9144" rIns="9144" tIns="9144" bIns="9144" anchor="t">
            <a:spAutoFit/>
          </a:bodyPr>
          <a:lstStyle/>
          <a:p>
            <a:pPr algn="ctr"/>
            <a:r>
              <a:rPr sz="800" b="1" i="0">
                <a:solidFill>
                  <a:srgbClr val="00D2FF"/>
                </a:solidFill>
                <a:latin typeface="Aptos"/>
              </a:rPr>
              <a:t>KANNADA-FIRST</a:t>
            </a:r>
          </a:p>
        </p:txBody>
      </p:sp>
      <p:sp>
        <p:nvSpPr>
          <p:cNvPr id="12" name="Rounded Rectangle 11"/>
          <p:cNvSpPr/>
          <p:nvPr/>
        </p:nvSpPr>
        <p:spPr>
          <a:xfrm>
            <a:off x="2404872" y="4608576"/>
            <a:ext cx="1051560" cy="256032"/>
          </a:xfrm>
          <a:prstGeom prst="roundRect">
            <a:avLst/>
          </a:prstGeom>
          <a:solidFill>
            <a:srgbClr val="12332A"/>
          </a:solidFill>
          <a:ln w="10160">
            <a:solidFill>
              <a:srgbClr val="38E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04872" y="4617720"/>
            <a:ext cx="1051560" cy="201168"/>
          </a:xfrm>
          <a:prstGeom prst="rect">
            <a:avLst/>
          </a:prstGeom>
          <a:noFill/>
        </p:spPr>
        <p:txBody>
          <a:bodyPr wrap="square" lIns="9144" rIns="9144" tIns="9144" bIns="9144" anchor="t">
            <a:spAutoFit/>
          </a:bodyPr>
          <a:lstStyle/>
          <a:p>
            <a:pPr algn="ctr"/>
            <a:r>
              <a:rPr sz="800" b="1" i="0">
                <a:solidFill>
                  <a:srgbClr val="38EF7D"/>
                </a:solidFill>
                <a:latin typeface="Aptos"/>
              </a:rPr>
              <a:t>NO QUEUE</a:t>
            </a:r>
          </a:p>
        </p:txBody>
      </p:sp>
      <p:sp>
        <p:nvSpPr>
          <p:cNvPr id="14" name="TextBox 13"/>
          <p:cNvSpPr txBox="1"/>
          <p:nvPr/>
        </p:nvSpPr>
        <p:spPr>
          <a:xfrm>
            <a:off x="822960" y="5285232"/>
            <a:ext cx="1280160" cy="201168"/>
          </a:xfrm>
          <a:prstGeom prst="rect">
            <a:avLst/>
          </a:prstGeom>
          <a:noFill/>
        </p:spPr>
        <p:txBody>
          <a:bodyPr wrap="square" lIns="54864" rIns="54864" tIns="54864" bIns="54864" anchor="t">
            <a:spAutoFit/>
          </a:bodyPr>
          <a:lstStyle/>
          <a:p>
            <a:pPr algn="l"/>
            <a:r>
              <a:rPr sz="800" b="1" i="0">
                <a:solidFill>
                  <a:srgbClr val="64748B"/>
                </a:solidFill>
                <a:latin typeface="Aptos"/>
              </a:rPr>
              <a:t>Design principle</a:t>
            </a:r>
          </a:p>
        </p:txBody>
      </p:sp>
      <p:sp>
        <p:nvSpPr>
          <p:cNvPr id="15" name="TextBox 14"/>
          <p:cNvSpPr txBox="1"/>
          <p:nvPr/>
        </p:nvSpPr>
        <p:spPr>
          <a:xfrm>
            <a:off x="822960" y="5550408"/>
            <a:ext cx="2834640" cy="429768"/>
          </a:xfrm>
          <a:prstGeom prst="rect">
            <a:avLst/>
          </a:prstGeom>
          <a:noFill/>
        </p:spPr>
        <p:txBody>
          <a:bodyPr wrap="square" lIns="54864" rIns="54864" tIns="54864" bIns="54864" anchor="t">
            <a:spAutoFit/>
          </a:bodyPr>
          <a:lstStyle/>
          <a:p>
            <a:pPr algn="l"/>
            <a:r>
              <a:rPr sz="1000" b="0" i="0">
                <a:solidFill>
                  <a:srgbClr val="CBD5E1"/>
                </a:solidFill>
                <a:latin typeface="Aptos"/>
              </a:rPr>
              <a:t>Voice is the front door. The system of record remains BESCOM’s approved CRM and complaint process.</a:t>
            </a:r>
          </a:p>
        </p:txBody>
      </p:sp>
      <p:sp>
        <p:nvSpPr>
          <p:cNvPr id="16" name="TextBox 15"/>
          <p:cNvSpPr txBox="1"/>
          <p:nvPr/>
        </p:nvSpPr>
        <p:spPr>
          <a:xfrm>
            <a:off x="4681728" y="1810512"/>
            <a:ext cx="3657600" cy="228600"/>
          </a:xfrm>
          <a:prstGeom prst="rect">
            <a:avLst/>
          </a:prstGeom>
          <a:noFill/>
        </p:spPr>
        <p:txBody>
          <a:bodyPr wrap="square" lIns="54864" rIns="54864" tIns="54864" bIns="54864" anchor="t">
            <a:spAutoFit/>
          </a:bodyPr>
          <a:lstStyle/>
          <a:p>
            <a:pPr algn="l"/>
            <a:r>
              <a:rPr sz="900" b="1" i="0">
                <a:solidFill>
                  <a:srgbClr val="00D2FF"/>
                </a:solidFill>
                <a:latin typeface="Aptos"/>
              </a:rPr>
              <a:t>FROM SPEECH TO RESOLUTION</a:t>
            </a:r>
          </a:p>
        </p:txBody>
      </p:sp>
      <p:sp>
        <p:nvSpPr>
          <p:cNvPr id="17" name="Oval 16"/>
          <p:cNvSpPr/>
          <p:nvPr/>
        </p:nvSpPr>
        <p:spPr>
          <a:xfrm>
            <a:off x="4681728" y="2212848"/>
            <a:ext cx="420624" cy="420624"/>
          </a:xfrm>
          <a:prstGeom prst="ellipse">
            <a:avLst/>
          </a:prstGeom>
          <a:solidFill>
            <a:srgbClr val="102B3A"/>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1728" y="2295144"/>
            <a:ext cx="420624" cy="182880"/>
          </a:xfrm>
          <a:prstGeom prst="rect">
            <a:avLst/>
          </a:prstGeom>
          <a:noFill/>
        </p:spPr>
        <p:txBody>
          <a:bodyPr wrap="square" lIns="54864" rIns="54864" tIns="54864" bIns="54864" anchor="t">
            <a:spAutoFit/>
          </a:bodyPr>
          <a:lstStyle/>
          <a:p>
            <a:pPr algn="ctr"/>
            <a:r>
              <a:rPr sz="900" b="1" i="0">
                <a:solidFill>
                  <a:srgbClr val="00D2FF"/>
                </a:solidFill>
                <a:latin typeface="Aptos"/>
              </a:rPr>
              <a:t>01</a:t>
            </a:r>
          </a:p>
        </p:txBody>
      </p:sp>
      <p:sp>
        <p:nvSpPr>
          <p:cNvPr id="19" name="TextBox 18"/>
          <p:cNvSpPr txBox="1"/>
          <p:nvPr/>
        </p:nvSpPr>
        <p:spPr>
          <a:xfrm>
            <a:off x="5321808" y="2231136"/>
            <a:ext cx="1508760" cy="228600"/>
          </a:xfrm>
          <a:prstGeom prst="rect">
            <a:avLst/>
          </a:prstGeom>
          <a:noFill/>
        </p:spPr>
        <p:txBody>
          <a:bodyPr wrap="square" lIns="54864" rIns="54864" tIns="54864" bIns="54864" anchor="t">
            <a:spAutoFit/>
          </a:bodyPr>
          <a:lstStyle/>
          <a:p>
            <a:pPr algn="l"/>
            <a:r>
              <a:rPr sz="1300" b="1" i="0">
                <a:solidFill>
                  <a:srgbClr val="FFFFFF"/>
                </a:solidFill>
                <a:latin typeface="Aptos"/>
              </a:rPr>
              <a:t>Understand</a:t>
            </a:r>
          </a:p>
        </p:txBody>
      </p:sp>
      <p:sp>
        <p:nvSpPr>
          <p:cNvPr id="20" name="TextBox 19"/>
          <p:cNvSpPr txBox="1"/>
          <p:nvPr/>
        </p:nvSpPr>
        <p:spPr>
          <a:xfrm>
            <a:off x="6766560" y="2249424"/>
            <a:ext cx="3931920" cy="256032"/>
          </a:xfrm>
          <a:prstGeom prst="rect">
            <a:avLst/>
          </a:prstGeom>
          <a:noFill/>
        </p:spPr>
        <p:txBody>
          <a:bodyPr wrap="square" lIns="54864" rIns="54864" tIns="54864" bIns="54864" anchor="t">
            <a:spAutoFit/>
          </a:bodyPr>
          <a:lstStyle/>
          <a:p>
            <a:pPr algn="l"/>
            <a:r>
              <a:rPr sz="1000" b="0" i="0">
                <a:solidFill>
                  <a:srgbClr val="CBD5E1"/>
                </a:solidFill>
                <a:latin typeface="Aptos"/>
              </a:rPr>
              <a:t>Kannada intent + RR number lookup</a:t>
            </a:r>
          </a:p>
        </p:txBody>
      </p:sp>
      <p:cxnSp>
        <p:nvCxnSpPr>
          <p:cNvPr id="21" name="Connector 20"/>
          <p:cNvCxnSpPr/>
          <p:nvPr/>
        </p:nvCxnSpPr>
        <p:spPr>
          <a:xfrm>
            <a:off x="4892040" y="2642615"/>
            <a:ext cx="0" cy="356617"/>
          </a:xfrm>
          <a:prstGeom prst="line">
            <a:avLst/>
          </a:prstGeom>
          <a:ln w="12700">
            <a:solidFill>
              <a:srgbClr val="26324A"/>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681728" y="3035808"/>
            <a:ext cx="420624" cy="420624"/>
          </a:xfrm>
          <a:prstGeom prst="ellipse">
            <a:avLst/>
          </a:prstGeom>
          <a:solidFill>
            <a:srgbClr val="102B3A"/>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1728" y="3118103"/>
            <a:ext cx="420624" cy="182880"/>
          </a:xfrm>
          <a:prstGeom prst="rect">
            <a:avLst/>
          </a:prstGeom>
          <a:noFill/>
        </p:spPr>
        <p:txBody>
          <a:bodyPr wrap="square" lIns="54864" rIns="54864" tIns="54864" bIns="54864" anchor="t">
            <a:spAutoFit/>
          </a:bodyPr>
          <a:lstStyle/>
          <a:p>
            <a:pPr algn="ctr"/>
            <a:r>
              <a:rPr sz="900" b="1" i="0">
                <a:solidFill>
                  <a:srgbClr val="00D2FF"/>
                </a:solidFill>
                <a:latin typeface="Aptos"/>
              </a:rPr>
              <a:t>02</a:t>
            </a:r>
          </a:p>
        </p:txBody>
      </p:sp>
      <p:sp>
        <p:nvSpPr>
          <p:cNvPr id="24" name="TextBox 23"/>
          <p:cNvSpPr txBox="1"/>
          <p:nvPr/>
        </p:nvSpPr>
        <p:spPr>
          <a:xfrm>
            <a:off x="5321808" y="3054096"/>
            <a:ext cx="1508760" cy="228600"/>
          </a:xfrm>
          <a:prstGeom prst="rect">
            <a:avLst/>
          </a:prstGeom>
          <a:noFill/>
        </p:spPr>
        <p:txBody>
          <a:bodyPr wrap="square" lIns="54864" rIns="54864" tIns="54864" bIns="54864" anchor="t">
            <a:spAutoFit/>
          </a:bodyPr>
          <a:lstStyle/>
          <a:p>
            <a:pPr algn="l"/>
            <a:r>
              <a:rPr sz="1300" b="1" i="0">
                <a:solidFill>
                  <a:srgbClr val="FFFFFF"/>
                </a:solidFill>
                <a:latin typeface="Aptos"/>
              </a:rPr>
              <a:t>Classify</a:t>
            </a:r>
          </a:p>
        </p:txBody>
      </p:sp>
      <p:sp>
        <p:nvSpPr>
          <p:cNvPr id="25" name="TextBox 24"/>
          <p:cNvSpPr txBox="1"/>
          <p:nvPr/>
        </p:nvSpPr>
        <p:spPr>
          <a:xfrm>
            <a:off x="6766560" y="3072384"/>
            <a:ext cx="3931920" cy="256032"/>
          </a:xfrm>
          <a:prstGeom prst="rect">
            <a:avLst/>
          </a:prstGeom>
          <a:noFill/>
        </p:spPr>
        <p:txBody>
          <a:bodyPr wrap="square" lIns="54864" rIns="54864" tIns="54864" bIns="54864" anchor="t">
            <a:spAutoFit/>
          </a:bodyPr>
          <a:lstStyle/>
          <a:p>
            <a:pPr algn="l"/>
            <a:r>
              <a:rPr sz="1000" b="0" i="0">
                <a:solidFill>
                  <a:srgbClr val="CBD5E1"/>
                </a:solidFill>
                <a:latin typeface="Aptos"/>
              </a:rPr>
              <a:t>Category A–N complaint routing</a:t>
            </a:r>
          </a:p>
        </p:txBody>
      </p:sp>
      <p:cxnSp>
        <p:nvCxnSpPr>
          <p:cNvPr id="26" name="Connector 25"/>
          <p:cNvCxnSpPr/>
          <p:nvPr/>
        </p:nvCxnSpPr>
        <p:spPr>
          <a:xfrm>
            <a:off x="4892040" y="3465576"/>
            <a:ext cx="0" cy="356615"/>
          </a:xfrm>
          <a:prstGeom prst="line">
            <a:avLst/>
          </a:prstGeom>
          <a:ln w="12700">
            <a:solidFill>
              <a:srgbClr val="26324A"/>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681728" y="3858768"/>
            <a:ext cx="420624" cy="420624"/>
          </a:xfrm>
          <a:prstGeom prst="ellipse">
            <a:avLst/>
          </a:prstGeom>
          <a:solidFill>
            <a:srgbClr val="102B3A"/>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1728" y="3941063"/>
            <a:ext cx="420624" cy="182880"/>
          </a:xfrm>
          <a:prstGeom prst="rect">
            <a:avLst/>
          </a:prstGeom>
          <a:noFill/>
        </p:spPr>
        <p:txBody>
          <a:bodyPr wrap="square" lIns="54864" rIns="54864" tIns="54864" bIns="54864" anchor="t">
            <a:spAutoFit/>
          </a:bodyPr>
          <a:lstStyle/>
          <a:p>
            <a:pPr algn="ctr"/>
            <a:r>
              <a:rPr sz="900" b="1" i="0">
                <a:solidFill>
                  <a:srgbClr val="00D2FF"/>
                </a:solidFill>
                <a:latin typeface="Aptos"/>
              </a:rPr>
              <a:t>03</a:t>
            </a:r>
          </a:p>
        </p:txBody>
      </p:sp>
      <p:sp>
        <p:nvSpPr>
          <p:cNvPr id="29" name="TextBox 28"/>
          <p:cNvSpPr txBox="1"/>
          <p:nvPr/>
        </p:nvSpPr>
        <p:spPr>
          <a:xfrm>
            <a:off x="5321808" y="3877055"/>
            <a:ext cx="1508760" cy="228600"/>
          </a:xfrm>
          <a:prstGeom prst="rect">
            <a:avLst/>
          </a:prstGeom>
          <a:noFill/>
        </p:spPr>
        <p:txBody>
          <a:bodyPr wrap="square" lIns="54864" rIns="54864" tIns="54864" bIns="54864" anchor="t">
            <a:spAutoFit/>
          </a:bodyPr>
          <a:lstStyle/>
          <a:p>
            <a:pPr algn="l"/>
            <a:r>
              <a:rPr sz="1300" b="1" i="0">
                <a:solidFill>
                  <a:srgbClr val="FFFFFF"/>
                </a:solidFill>
                <a:latin typeface="Aptos"/>
              </a:rPr>
              <a:t>Inform</a:t>
            </a:r>
          </a:p>
        </p:txBody>
      </p:sp>
      <p:sp>
        <p:nvSpPr>
          <p:cNvPr id="30" name="TextBox 29"/>
          <p:cNvSpPr txBox="1"/>
          <p:nvPr/>
        </p:nvSpPr>
        <p:spPr>
          <a:xfrm>
            <a:off x="6766560" y="3895344"/>
            <a:ext cx="3931920" cy="256032"/>
          </a:xfrm>
          <a:prstGeom prst="rect">
            <a:avLst/>
          </a:prstGeom>
          <a:noFill/>
        </p:spPr>
        <p:txBody>
          <a:bodyPr wrap="square" lIns="54864" rIns="54864" tIns="54864" bIns="54864" anchor="t">
            <a:spAutoFit/>
          </a:bodyPr>
          <a:lstStyle/>
          <a:p>
            <a:pPr algn="l"/>
            <a:r>
              <a:rPr sz="1000" b="0" i="0">
                <a:solidFill>
                  <a:srgbClr val="CBD5E1"/>
                </a:solidFill>
                <a:latin typeface="Aptos"/>
              </a:rPr>
              <a:t>Feeder status / restoration message</a:t>
            </a:r>
          </a:p>
        </p:txBody>
      </p:sp>
      <p:cxnSp>
        <p:nvCxnSpPr>
          <p:cNvPr id="31" name="Connector 30"/>
          <p:cNvCxnSpPr/>
          <p:nvPr/>
        </p:nvCxnSpPr>
        <p:spPr>
          <a:xfrm>
            <a:off x="4892040" y="4288536"/>
            <a:ext cx="0" cy="356616"/>
          </a:xfrm>
          <a:prstGeom prst="line">
            <a:avLst/>
          </a:prstGeom>
          <a:ln w="12700">
            <a:solidFill>
              <a:srgbClr val="26324A"/>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681728" y="4681728"/>
            <a:ext cx="420624" cy="420624"/>
          </a:xfrm>
          <a:prstGeom prst="ellipse">
            <a:avLst/>
          </a:prstGeom>
          <a:solidFill>
            <a:srgbClr val="102B3A"/>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81728" y="4764024"/>
            <a:ext cx="420624" cy="182880"/>
          </a:xfrm>
          <a:prstGeom prst="rect">
            <a:avLst/>
          </a:prstGeom>
          <a:noFill/>
        </p:spPr>
        <p:txBody>
          <a:bodyPr wrap="square" lIns="54864" rIns="54864" tIns="54864" bIns="54864" anchor="t">
            <a:spAutoFit/>
          </a:bodyPr>
          <a:lstStyle/>
          <a:p>
            <a:pPr algn="ctr"/>
            <a:r>
              <a:rPr sz="900" b="1" i="0">
                <a:solidFill>
                  <a:srgbClr val="00D2FF"/>
                </a:solidFill>
                <a:latin typeface="Aptos"/>
              </a:rPr>
              <a:t>04</a:t>
            </a:r>
          </a:p>
        </p:txBody>
      </p:sp>
      <p:sp>
        <p:nvSpPr>
          <p:cNvPr id="34" name="TextBox 33"/>
          <p:cNvSpPr txBox="1"/>
          <p:nvPr/>
        </p:nvSpPr>
        <p:spPr>
          <a:xfrm>
            <a:off x="5321808" y="4700016"/>
            <a:ext cx="1508760" cy="228600"/>
          </a:xfrm>
          <a:prstGeom prst="rect">
            <a:avLst/>
          </a:prstGeom>
          <a:noFill/>
        </p:spPr>
        <p:txBody>
          <a:bodyPr wrap="square" lIns="54864" rIns="54864" tIns="54864" bIns="54864" anchor="t">
            <a:spAutoFit/>
          </a:bodyPr>
          <a:lstStyle/>
          <a:p>
            <a:pPr algn="l"/>
            <a:r>
              <a:rPr sz="1300" b="1" i="0">
                <a:solidFill>
                  <a:srgbClr val="FFFFFF"/>
                </a:solidFill>
                <a:latin typeface="Aptos"/>
              </a:rPr>
              <a:t>Close loop</a:t>
            </a:r>
          </a:p>
        </p:txBody>
      </p:sp>
      <p:sp>
        <p:nvSpPr>
          <p:cNvPr id="35" name="TextBox 34"/>
          <p:cNvSpPr txBox="1"/>
          <p:nvPr/>
        </p:nvSpPr>
        <p:spPr>
          <a:xfrm>
            <a:off x="6766560" y="4718304"/>
            <a:ext cx="3931920" cy="256032"/>
          </a:xfrm>
          <a:prstGeom prst="rect">
            <a:avLst/>
          </a:prstGeom>
          <a:noFill/>
        </p:spPr>
        <p:txBody>
          <a:bodyPr wrap="square" lIns="54864" rIns="54864" tIns="54864" bIns="54864" anchor="t">
            <a:spAutoFit/>
          </a:bodyPr>
          <a:lstStyle/>
          <a:p>
            <a:pPr algn="l"/>
            <a:r>
              <a:rPr sz="1000" b="0" i="0">
                <a:solidFill>
                  <a:srgbClr val="CBD5E1"/>
                </a:solidFill>
                <a:latin typeface="Aptos"/>
              </a:rPr>
              <a:t>Ticket ID + next-best action</a:t>
            </a:r>
          </a:p>
        </p:txBody>
      </p:sp>
      <p:sp>
        <p:nvSpPr>
          <p:cNvPr id="36" name="Rounded Rectangle 35"/>
          <p:cNvSpPr/>
          <p:nvPr/>
        </p:nvSpPr>
        <p:spPr>
          <a:xfrm>
            <a:off x="4681728" y="5605272"/>
            <a:ext cx="6903720" cy="585216"/>
          </a:xfrm>
          <a:prstGeom prst="roundRect">
            <a:avLst/>
          </a:prstGeom>
          <a:solidFill>
            <a:srgbClr val="101827"/>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01184" y="5769864"/>
            <a:ext cx="6473952" cy="265176"/>
          </a:xfrm>
          <a:prstGeom prst="rect">
            <a:avLst/>
          </a:prstGeom>
          <a:noFill/>
        </p:spPr>
        <p:txBody>
          <a:bodyPr wrap="square" lIns="54864" rIns="54864" tIns="54864" bIns="54864">
            <a:spAutoFit/>
          </a:bodyPr>
          <a:lstStyle/>
          <a:p>
            <a:pPr algn="l"/>
            <a:r>
              <a:rPr sz="1000" b="1">
                <a:solidFill>
                  <a:srgbClr val="38EF7D"/>
                </a:solidFill>
                <a:latin typeface="Aptos"/>
              </a:rPr>
              <a:t>Pilot gate: </a:t>
            </a:r>
            <a:r>
              <a:rPr sz="1000" b="0">
                <a:solidFill>
                  <a:srgbClr val="CBD5E1"/>
                </a:solidFill>
                <a:latin typeface="Aptos"/>
              </a:rPr>
              <a:t>validate Kannada ASR, CRM write-back, outage-data access, and escalation policy before any production claim.</a:t>
            </a:r>
          </a:p>
        </p:txBody>
      </p:sp>
      <p:cxnSp>
        <p:nvCxnSpPr>
          <p:cNvPr id="38" name="Connector 37"/>
          <p:cNvCxnSpPr/>
          <p:nvPr/>
        </p:nvCxnSpPr>
        <p:spPr>
          <a:xfrm>
            <a:off x="566928" y="6510528"/>
            <a:ext cx="11064240" cy="0"/>
          </a:xfrm>
          <a:prstGeom prst="line">
            <a:avLst/>
          </a:prstGeom>
          <a:ln w="10160">
            <a:solidFill>
              <a:srgbClr val="26324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6565392"/>
            <a:ext cx="7315200" cy="146304"/>
          </a:xfrm>
          <a:prstGeom prst="rect">
            <a:avLst/>
          </a:prstGeom>
          <a:noFill/>
        </p:spPr>
        <p:txBody>
          <a:bodyPr wrap="square" lIns="54864" rIns="54864" tIns="54864" bIns="54864" anchor="t">
            <a:spAutoFit/>
          </a:bodyPr>
          <a:lstStyle/>
          <a:p>
            <a:pPr algn="l"/>
            <a:r>
              <a:rPr sz="700" b="0" i="0">
                <a:solidFill>
                  <a:srgbClr val="64748B"/>
                </a:solidFill>
                <a:latin typeface="Aptos"/>
              </a:rPr>
              <a:t>247AutogenV  |  Confidential executive briefing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66928" y="310896"/>
            <a:ext cx="6858000" cy="228600"/>
          </a:xfrm>
          <a:prstGeom prst="rect">
            <a:avLst/>
          </a:prstGeom>
          <a:noFill/>
        </p:spPr>
        <p:txBody>
          <a:bodyPr wrap="square" lIns="54864" rIns="54864" tIns="54864" bIns="54864" anchor="t">
            <a:spAutoFit/>
          </a:bodyPr>
          <a:lstStyle/>
          <a:p>
            <a:pPr algn="l"/>
            <a:r>
              <a:rPr sz="900" b="1" i="0">
                <a:solidFill>
                  <a:srgbClr val="00D2FF"/>
                </a:solidFill>
                <a:latin typeface="Aptos"/>
              </a:rPr>
              <a:t>03  |  SOLUTION TWO</a:t>
            </a:r>
          </a:p>
        </p:txBody>
      </p:sp>
      <p:sp>
        <p:nvSpPr>
          <p:cNvPr id="3" name="TextBox 2"/>
          <p:cNvSpPr txBox="1"/>
          <p:nvPr/>
        </p:nvSpPr>
        <p:spPr>
          <a:xfrm>
            <a:off x="566928" y="603504"/>
            <a:ext cx="10607040" cy="512064"/>
          </a:xfrm>
          <a:prstGeom prst="rect">
            <a:avLst/>
          </a:prstGeom>
          <a:noFill/>
        </p:spPr>
        <p:txBody>
          <a:bodyPr wrap="square" lIns="54864" rIns="54864" tIns="54864" bIns="54864" anchor="t">
            <a:spAutoFit/>
          </a:bodyPr>
          <a:lstStyle/>
          <a:p>
            <a:pPr algn="l"/>
            <a:r>
              <a:rPr sz="2500" b="1" i="0">
                <a:solidFill>
                  <a:srgbClr val="FFFFFF"/>
                </a:solidFill>
                <a:latin typeface="Aptos"/>
              </a:rPr>
              <a:t>Turn overdue accounts into a governed conversation, not a blind dialler</a:t>
            </a:r>
          </a:p>
        </p:txBody>
      </p:sp>
      <p:sp>
        <p:nvSpPr>
          <p:cNvPr id="4" name="TextBox 3"/>
          <p:cNvSpPr txBox="1"/>
          <p:nvPr/>
        </p:nvSpPr>
        <p:spPr>
          <a:xfrm>
            <a:off x="585216" y="1170432"/>
            <a:ext cx="10789920" cy="320040"/>
          </a:xfrm>
          <a:prstGeom prst="rect">
            <a:avLst/>
          </a:prstGeom>
          <a:noFill/>
        </p:spPr>
        <p:txBody>
          <a:bodyPr wrap="square" lIns="54864" rIns="54864" tIns="54864" bIns="54864" anchor="t">
            <a:spAutoFit/>
          </a:bodyPr>
          <a:lstStyle/>
          <a:p>
            <a:pPr algn="l"/>
            <a:r>
              <a:rPr sz="1000" b="0" i="0">
                <a:solidFill>
                  <a:srgbClr val="CBD5E1"/>
                </a:solidFill>
                <a:latin typeface="Aptos"/>
              </a:rPr>
              <a:t>Working-capital lever: segment, explain, collect, and evidence the outcome</a:t>
            </a:r>
          </a:p>
        </p:txBody>
      </p:sp>
      <p:sp>
        <p:nvSpPr>
          <p:cNvPr id="5" name="TextBox 4"/>
          <p:cNvSpPr txBox="1"/>
          <p:nvPr/>
        </p:nvSpPr>
        <p:spPr>
          <a:xfrm>
            <a:off x="11109960" y="347472"/>
            <a:ext cx="457200" cy="228600"/>
          </a:xfrm>
          <a:prstGeom prst="rect">
            <a:avLst/>
          </a:prstGeom>
          <a:noFill/>
        </p:spPr>
        <p:txBody>
          <a:bodyPr wrap="square" lIns="54864" rIns="54864" tIns="54864" bIns="54864" anchor="t">
            <a:spAutoFit/>
          </a:bodyPr>
          <a:lstStyle/>
          <a:p>
            <a:pPr algn="r"/>
            <a:r>
              <a:rPr sz="1000" b="1" i="0">
                <a:solidFill>
                  <a:srgbClr val="64748B"/>
                </a:solidFill>
                <a:latin typeface="Aptos"/>
              </a:rPr>
              <a:t>04</a:t>
            </a:r>
          </a:p>
        </p:txBody>
      </p:sp>
      <p:sp>
        <p:nvSpPr>
          <p:cNvPr id="6" name="Rounded Rectangle 5"/>
          <p:cNvSpPr/>
          <p:nvPr/>
        </p:nvSpPr>
        <p:spPr>
          <a:xfrm>
            <a:off x="685800" y="1883664"/>
            <a:ext cx="1572768" cy="1426464"/>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2048256"/>
            <a:ext cx="365760" cy="182880"/>
          </a:xfrm>
          <a:prstGeom prst="rect">
            <a:avLst/>
          </a:prstGeom>
          <a:noFill/>
        </p:spPr>
        <p:txBody>
          <a:bodyPr wrap="square" lIns="54864" rIns="54864" tIns="54864" bIns="54864" anchor="t">
            <a:spAutoFit/>
          </a:bodyPr>
          <a:lstStyle/>
          <a:p>
            <a:pPr algn="l"/>
            <a:r>
              <a:rPr sz="900" b="1" i="0">
                <a:solidFill>
                  <a:srgbClr val="38EF7D"/>
                </a:solidFill>
                <a:latin typeface="Aptos"/>
              </a:rPr>
              <a:t>01</a:t>
            </a:r>
          </a:p>
        </p:txBody>
      </p:sp>
      <p:sp>
        <p:nvSpPr>
          <p:cNvPr id="8" name="TextBox 7"/>
          <p:cNvSpPr txBox="1"/>
          <p:nvPr/>
        </p:nvSpPr>
        <p:spPr>
          <a:xfrm>
            <a:off x="832104" y="2359152"/>
            <a:ext cx="1280160" cy="201168"/>
          </a:xfrm>
          <a:prstGeom prst="rect">
            <a:avLst/>
          </a:prstGeom>
          <a:noFill/>
        </p:spPr>
        <p:txBody>
          <a:bodyPr wrap="square" lIns="54864" rIns="54864" tIns="54864" bIns="54864" anchor="t">
            <a:spAutoFit/>
          </a:bodyPr>
          <a:lstStyle/>
          <a:p>
            <a:pPr algn="l"/>
            <a:r>
              <a:rPr sz="1000" b="1" i="0">
                <a:solidFill>
                  <a:srgbClr val="00D2FF"/>
                </a:solidFill>
                <a:latin typeface="Aptos"/>
              </a:rPr>
              <a:t>PROFILE</a:t>
            </a:r>
          </a:p>
        </p:txBody>
      </p:sp>
      <p:sp>
        <p:nvSpPr>
          <p:cNvPr id="9" name="TextBox 8"/>
          <p:cNvSpPr txBox="1"/>
          <p:nvPr/>
        </p:nvSpPr>
        <p:spPr>
          <a:xfrm>
            <a:off x="832104" y="2724912"/>
            <a:ext cx="1280160" cy="393192"/>
          </a:xfrm>
          <a:prstGeom prst="rect">
            <a:avLst/>
          </a:prstGeom>
          <a:noFill/>
        </p:spPr>
        <p:txBody>
          <a:bodyPr wrap="square" lIns="54864" rIns="54864" tIns="54864" bIns="54864" anchor="t">
            <a:spAutoFit/>
          </a:bodyPr>
          <a:lstStyle/>
          <a:p>
            <a:pPr algn="l"/>
            <a:r>
              <a:rPr sz="1100" b="1" i="0">
                <a:solidFill>
                  <a:srgbClr val="FFFFFF"/>
                </a:solidFill>
                <a:latin typeface="Aptos"/>
              </a:rPr>
              <a:t>DCB / TRM
segment</a:t>
            </a:r>
          </a:p>
        </p:txBody>
      </p:sp>
      <p:cxnSp>
        <p:nvCxnSpPr>
          <p:cNvPr id="10" name="Connector 9"/>
          <p:cNvCxnSpPr/>
          <p:nvPr/>
        </p:nvCxnSpPr>
        <p:spPr>
          <a:xfrm>
            <a:off x="2258568" y="2596896"/>
            <a:ext cx="283464" cy="0"/>
          </a:xfrm>
          <a:prstGeom prst="line">
            <a:avLst/>
          </a:prstGeom>
          <a:ln w="17780">
            <a:solidFill>
              <a:srgbClr val="38EF7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60320" y="1883664"/>
            <a:ext cx="1572768" cy="1426464"/>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2048256"/>
            <a:ext cx="365760" cy="182880"/>
          </a:xfrm>
          <a:prstGeom prst="rect">
            <a:avLst/>
          </a:prstGeom>
          <a:noFill/>
        </p:spPr>
        <p:txBody>
          <a:bodyPr wrap="square" lIns="54864" rIns="54864" tIns="54864" bIns="54864" anchor="t">
            <a:spAutoFit/>
          </a:bodyPr>
          <a:lstStyle/>
          <a:p>
            <a:pPr algn="l"/>
            <a:r>
              <a:rPr sz="900" b="1" i="0">
                <a:solidFill>
                  <a:srgbClr val="38EF7D"/>
                </a:solidFill>
                <a:latin typeface="Aptos"/>
              </a:rPr>
              <a:t>02</a:t>
            </a:r>
          </a:p>
        </p:txBody>
      </p:sp>
      <p:sp>
        <p:nvSpPr>
          <p:cNvPr id="13" name="TextBox 12"/>
          <p:cNvSpPr txBox="1"/>
          <p:nvPr/>
        </p:nvSpPr>
        <p:spPr>
          <a:xfrm>
            <a:off x="2706624" y="2359152"/>
            <a:ext cx="1280160" cy="201168"/>
          </a:xfrm>
          <a:prstGeom prst="rect">
            <a:avLst/>
          </a:prstGeom>
          <a:noFill/>
        </p:spPr>
        <p:txBody>
          <a:bodyPr wrap="square" lIns="54864" rIns="54864" tIns="54864" bIns="54864" anchor="t">
            <a:spAutoFit/>
          </a:bodyPr>
          <a:lstStyle/>
          <a:p>
            <a:pPr algn="l"/>
            <a:r>
              <a:rPr sz="1000" b="1" i="0">
                <a:solidFill>
                  <a:srgbClr val="00D2FF"/>
                </a:solidFill>
                <a:latin typeface="Aptos"/>
              </a:rPr>
              <a:t>ENGAGE</a:t>
            </a:r>
          </a:p>
        </p:txBody>
      </p:sp>
      <p:sp>
        <p:nvSpPr>
          <p:cNvPr id="14" name="TextBox 13"/>
          <p:cNvSpPr txBox="1"/>
          <p:nvPr/>
        </p:nvSpPr>
        <p:spPr>
          <a:xfrm>
            <a:off x="2706624" y="2724912"/>
            <a:ext cx="1280160" cy="393192"/>
          </a:xfrm>
          <a:prstGeom prst="rect">
            <a:avLst/>
          </a:prstGeom>
          <a:noFill/>
        </p:spPr>
        <p:txBody>
          <a:bodyPr wrap="square" lIns="54864" rIns="54864" tIns="54864" bIns="54864" anchor="t">
            <a:spAutoFit/>
          </a:bodyPr>
          <a:lstStyle/>
          <a:p>
            <a:pPr algn="l"/>
            <a:r>
              <a:rPr sz="1100" b="1" i="0">
                <a:solidFill>
                  <a:srgbClr val="FFFFFF"/>
                </a:solidFill>
                <a:latin typeface="Aptos"/>
              </a:rPr>
              <a:t>Kannada
conversation</a:t>
            </a:r>
          </a:p>
        </p:txBody>
      </p:sp>
      <p:cxnSp>
        <p:nvCxnSpPr>
          <p:cNvPr id="15" name="Connector 14"/>
          <p:cNvCxnSpPr/>
          <p:nvPr/>
        </p:nvCxnSpPr>
        <p:spPr>
          <a:xfrm>
            <a:off x="4133087" y="2596896"/>
            <a:ext cx="283465" cy="0"/>
          </a:xfrm>
          <a:prstGeom prst="line">
            <a:avLst/>
          </a:prstGeom>
          <a:ln w="17780">
            <a:solidFill>
              <a:srgbClr val="38EF7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34840" y="1883664"/>
            <a:ext cx="1572768" cy="1426464"/>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048256"/>
            <a:ext cx="365760" cy="182880"/>
          </a:xfrm>
          <a:prstGeom prst="rect">
            <a:avLst/>
          </a:prstGeom>
          <a:noFill/>
        </p:spPr>
        <p:txBody>
          <a:bodyPr wrap="square" lIns="54864" rIns="54864" tIns="54864" bIns="54864" anchor="t">
            <a:spAutoFit/>
          </a:bodyPr>
          <a:lstStyle/>
          <a:p>
            <a:pPr algn="l"/>
            <a:r>
              <a:rPr sz="900" b="1" i="0">
                <a:solidFill>
                  <a:srgbClr val="38EF7D"/>
                </a:solidFill>
                <a:latin typeface="Aptos"/>
              </a:rPr>
              <a:t>03</a:t>
            </a:r>
          </a:p>
        </p:txBody>
      </p:sp>
      <p:sp>
        <p:nvSpPr>
          <p:cNvPr id="18" name="TextBox 17"/>
          <p:cNvSpPr txBox="1"/>
          <p:nvPr/>
        </p:nvSpPr>
        <p:spPr>
          <a:xfrm>
            <a:off x="4581144" y="2359152"/>
            <a:ext cx="1280160" cy="201168"/>
          </a:xfrm>
          <a:prstGeom prst="rect">
            <a:avLst/>
          </a:prstGeom>
          <a:noFill/>
        </p:spPr>
        <p:txBody>
          <a:bodyPr wrap="square" lIns="54864" rIns="54864" tIns="54864" bIns="54864" anchor="t">
            <a:spAutoFit/>
          </a:bodyPr>
          <a:lstStyle/>
          <a:p>
            <a:pPr algn="l"/>
            <a:r>
              <a:rPr sz="1000" b="1" i="0">
                <a:solidFill>
                  <a:srgbClr val="00D2FF"/>
                </a:solidFill>
                <a:latin typeface="Aptos"/>
              </a:rPr>
              <a:t>COLLECT</a:t>
            </a:r>
          </a:p>
        </p:txBody>
      </p:sp>
      <p:sp>
        <p:nvSpPr>
          <p:cNvPr id="19" name="TextBox 18"/>
          <p:cNvSpPr txBox="1"/>
          <p:nvPr/>
        </p:nvSpPr>
        <p:spPr>
          <a:xfrm>
            <a:off x="4581144" y="2724912"/>
            <a:ext cx="1280160" cy="393192"/>
          </a:xfrm>
          <a:prstGeom prst="rect">
            <a:avLst/>
          </a:prstGeom>
          <a:noFill/>
        </p:spPr>
        <p:txBody>
          <a:bodyPr wrap="square" lIns="54864" rIns="54864" tIns="54864" bIns="54864" anchor="t">
            <a:spAutoFit/>
          </a:bodyPr>
          <a:lstStyle/>
          <a:p>
            <a:pPr algn="l"/>
            <a:r>
              <a:rPr sz="1100" b="1" i="0">
                <a:solidFill>
                  <a:srgbClr val="FFFFFF"/>
                </a:solidFill>
                <a:latin typeface="Aptos"/>
              </a:rPr>
              <a:t>UPI / BBPS
payment path</a:t>
            </a:r>
          </a:p>
        </p:txBody>
      </p:sp>
      <p:cxnSp>
        <p:nvCxnSpPr>
          <p:cNvPr id="20" name="Connector 19"/>
          <p:cNvCxnSpPr/>
          <p:nvPr/>
        </p:nvCxnSpPr>
        <p:spPr>
          <a:xfrm>
            <a:off x="6007607" y="2596896"/>
            <a:ext cx="283464" cy="0"/>
          </a:xfrm>
          <a:prstGeom prst="line">
            <a:avLst/>
          </a:prstGeom>
          <a:ln w="17780">
            <a:solidFill>
              <a:srgbClr val="38EF7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309359" y="1883664"/>
            <a:ext cx="1572768" cy="1426464"/>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2048256"/>
            <a:ext cx="365760" cy="182880"/>
          </a:xfrm>
          <a:prstGeom prst="rect">
            <a:avLst/>
          </a:prstGeom>
          <a:noFill/>
        </p:spPr>
        <p:txBody>
          <a:bodyPr wrap="square" lIns="54864" rIns="54864" tIns="54864" bIns="54864" anchor="t">
            <a:spAutoFit/>
          </a:bodyPr>
          <a:lstStyle/>
          <a:p>
            <a:pPr algn="l"/>
            <a:r>
              <a:rPr sz="900" b="1" i="0">
                <a:solidFill>
                  <a:srgbClr val="38EF7D"/>
                </a:solidFill>
                <a:latin typeface="Aptos"/>
              </a:rPr>
              <a:t>04</a:t>
            </a:r>
          </a:p>
        </p:txBody>
      </p:sp>
      <p:sp>
        <p:nvSpPr>
          <p:cNvPr id="23" name="TextBox 22"/>
          <p:cNvSpPr txBox="1"/>
          <p:nvPr/>
        </p:nvSpPr>
        <p:spPr>
          <a:xfrm>
            <a:off x="6455664" y="2359152"/>
            <a:ext cx="1280160" cy="201168"/>
          </a:xfrm>
          <a:prstGeom prst="rect">
            <a:avLst/>
          </a:prstGeom>
          <a:noFill/>
        </p:spPr>
        <p:txBody>
          <a:bodyPr wrap="square" lIns="54864" rIns="54864" tIns="54864" bIns="54864" anchor="t">
            <a:spAutoFit/>
          </a:bodyPr>
          <a:lstStyle/>
          <a:p>
            <a:pPr algn="l"/>
            <a:r>
              <a:rPr sz="1000" b="1" i="0">
                <a:solidFill>
                  <a:srgbClr val="00D2FF"/>
                </a:solidFill>
                <a:latin typeface="Aptos"/>
              </a:rPr>
              <a:t>EVIDENCE</a:t>
            </a:r>
          </a:p>
        </p:txBody>
      </p:sp>
      <p:sp>
        <p:nvSpPr>
          <p:cNvPr id="24" name="TextBox 23"/>
          <p:cNvSpPr txBox="1"/>
          <p:nvPr/>
        </p:nvSpPr>
        <p:spPr>
          <a:xfrm>
            <a:off x="6455664" y="2724912"/>
            <a:ext cx="1280160" cy="393192"/>
          </a:xfrm>
          <a:prstGeom prst="rect">
            <a:avLst/>
          </a:prstGeom>
          <a:noFill/>
        </p:spPr>
        <p:txBody>
          <a:bodyPr wrap="square" lIns="54864" rIns="54864" tIns="54864" bIns="54864" anchor="t">
            <a:spAutoFit/>
          </a:bodyPr>
          <a:lstStyle/>
          <a:p>
            <a:pPr algn="l"/>
            <a:r>
              <a:rPr sz="1100" b="1" i="0">
                <a:solidFill>
                  <a:srgbClr val="FFFFFF"/>
                </a:solidFill>
                <a:latin typeface="Aptos"/>
              </a:rPr>
              <a:t>UTR + promise
ledger</a:t>
            </a:r>
          </a:p>
        </p:txBody>
      </p:sp>
      <p:sp>
        <p:nvSpPr>
          <p:cNvPr id="25" name="TextBox 24"/>
          <p:cNvSpPr txBox="1"/>
          <p:nvPr/>
        </p:nvSpPr>
        <p:spPr>
          <a:xfrm>
            <a:off x="685800" y="3813048"/>
            <a:ext cx="2011680" cy="228600"/>
          </a:xfrm>
          <a:prstGeom prst="rect">
            <a:avLst/>
          </a:prstGeom>
          <a:noFill/>
        </p:spPr>
        <p:txBody>
          <a:bodyPr wrap="square" lIns="54864" rIns="54864" tIns="54864" bIns="54864" anchor="t">
            <a:spAutoFit/>
          </a:bodyPr>
          <a:lstStyle/>
          <a:p>
            <a:pPr algn="l"/>
            <a:r>
              <a:rPr sz="900" b="1" i="0">
                <a:solidFill>
                  <a:srgbClr val="38EF7D"/>
                </a:solidFill>
                <a:latin typeface="Aptos"/>
              </a:rPr>
              <a:t>CFO MATHEMATICS</a:t>
            </a:r>
          </a:p>
        </p:txBody>
      </p:sp>
      <p:sp>
        <p:nvSpPr>
          <p:cNvPr id="26" name="Rounded Rectangle 25"/>
          <p:cNvSpPr/>
          <p:nvPr/>
        </p:nvSpPr>
        <p:spPr>
          <a:xfrm>
            <a:off x="685800" y="4160520"/>
            <a:ext cx="4800600" cy="1600200"/>
          </a:xfrm>
          <a:prstGeom prst="roundRect">
            <a:avLst/>
          </a:prstGeom>
          <a:solidFill>
            <a:srgbClr val="101827"/>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4407408"/>
            <a:ext cx="4160520" cy="283464"/>
          </a:xfrm>
          <a:prstGeom prst="rect">
            <a:avLst/>
          </a:prstGeom>
          <a:noFill/>
        </p:spPr>
        <p:txBody>
          <a:bodyPr wrap="square" lIns="54864" rIns="54864" tIns="54864" bIns="54864" anchor="t">
            <a:spAutoFit/>
          </a:bodyPr>
          <a:lstStyle/>
          <a:p>
            <a:pPr algn="l"/>
            <a:r>
              <a:rPr sz="1800" b="1" i="0">
                <a:solidFill>
                  <a:srgbClr val="FFFFFF"/>
                </a:solidFill>
                <a:latin typeface="Aptos"/>
              </a:rPr>
              <a:t>1% collection-velocity improvement</a:t>
            </a:r>
          </a:p>
        </p:txBody>
      </p:sp>
      <p:sp>
        <p:nvSpPr>
          <p:cNvPr id="28" name="TextBox 27"/>
          <p:cNvSpPr txBox="1"/>
          <p:nvPr/>
        </p:nvSpPr>
        <p:spPr>
          <a:xfrm>
            <a:off x="941832" y="4818888"/>
            <a:ext cx="4069080" cy="320040"/>
          </a:xfrm>
          <a:prstGeom prst="rect">
            <a:avLst/>
          </a:prstGeom>
          <a:noFill/>
        </p:spPr>
        <p:txBody>
          <a:bodyPr wrap="square" lIns="54864" rIns="54864" tIns="54864" bIns="54864" anchor="t">
            <a:spAutoFit/>
          </a:bodyPr>
          <a:lstStyle/>
          <a:p>
            <a:pPr algn="l"/>
            <a:r>
              <a:rPr sz="1700" b="1" i="0">
                <a:solidFill>
                  <a:srgbClr val="38EF7D"/>
                </a:solidFill>
                <a:latin typeface="Aptos"/>
              </a:rPr>
              <a:t>≈ ₹51.75 Cr of receivables moved into liquidity</a:t>
            </a:r>
          </a:p>
        </p:txBody>
      </p:sp>
      <p:sp>
        <p:nvSpPr>
          <p:cNvPr id="29" name="TextBox 28"/>
          <p:cNvSpPr txBox="1"/>
          <p:nvPr/>
        </p:nvSpPr>
        <p:spPr>
          <a:xfrm>
            <a:off x="941832" y="5340096"/>
            <a:ext cx="4114800" cy="256032"/>
          </a:xfrm>
          <a:prstGeom prst="rect">
            <a:avLst/>
          </a:prstGeom>
          <a:noFill/>
        </p:spPr>
        <p:txBody>
          <a:bodyPr wrap="square" lIns="54864" rIns="54864" tIns="54864" bIns="54864" anchor="t">
            <a:spAutoFit/>
          </a:bodyPr>
          <a:lstStyle/>
          <a:p>
            <a:pPr algn="l"/>
            <a:r>
              <a:rPr sz="800" b="0" i="0">
                <a:solidFill>
                  <a:srgbClr val="64748B"/>
                </a:solidFill>
                <a:latin typeface="Aptos"/>
              </a:rPr>
              <a:t>Illustrative arithmetic on the briefing baseline of ₹5,175.84 Cr; not a forecast or guaranteed recovery.</a:t>
            </a:r>
          </a:p>
        </p:txBody>
      </p:sp>
      <p:sp>
        <p:nvSpPr>
          <p:cNvPr id="30" name="Rounded Rectangle 29"/>
          <p:cNvSpPr/>
          <p:nvPr/>
        </p:nvSpPr>
        <p:spPr>
          <a:xfrm>
            <a:off x="5870448" y="4160520"/>
            <a:ext cx="5715000" cy="1600200"/>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44768" y="4407408"/>
            <a:ext cx="1097280" cy="228600"/>
          </a:xfrm>
          <a:prstGeom prst="rect">
            <a:avLst/>
          </a:prstGeom>
          <a:noFill/>
        </p:spPr>
        <p:txBody>
          <a:bodyPr wrap="square" lIns="54864" rIns="54864" tIns="54864" bIns="54864" anchor="t">
            <a:spAutoFit/>
          </a:bodyPr>
          <a:lstStyle/>
          <a:p>
            <a:pPr algn="l"/>
            <a:r>
              <a:rPr sz="900" b="1" i="0">
                <a:solidFill>
                  <a:srgbClr val="F6C453"/>
                </a:solidFill>
                <a:latin typeface="Aptos"/>
              </a:rPr>
              <a:t>GUARDRAILS</a:t>
            </a:r>
          </a:p>
        </p:txBody>
      </p:sp>
      <p:sp>
        <p:nvSpPr>
          <p:cNvPr id="32" name="Oval 31"/>
          <p:cNvSpPr/>
          <p:nvPr/>
        </p:nvSpPr>
        <p:spPr>
          <a:xfrm>
            <a:off x="6144768" y="4809744"/>
            <a:ext cx="109728" cy="109728"/>
          </a:xfrm>
          <a:prstGeom prst="ellipse">
            <a:avLst/>
          </a:prstGeom>
          <a:solidFill>
            <a:srgbClr val="F6C453"/>
          </a:solidFill>
          <a:ln w="10160">
            <a:solidFill>
              <a:srgbClr val="F6C4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45936" y="4736592"/>
            <a:ext cx="4846320" cy="310896"/>
          </a:xfrm>
          <a:prstGeom prst="rect">
            <a:avLst/>
          </a:prstGeom>
          <a:noFill/>
        </p:spPr>
        <p:txBody>
          <a:bodyPr wrap="square" lIns="54864" rIns="54864" tIns="54864" bIns="54864">
            <a:spAutoFit/>
          </a:bodyPr>
          <a:lstStyle/>
          <a:p>
            <a:pPr algn="l"/>
            <a:r>
              <a:rPr sz="1000" b="1">
                <a:solidFill>
                  <a:srgbClr val="F6C453"/>
                </a:solidFill>
                <a:latin typeface="Aptos"/>
              </a:rPr>
              <a:t>Respectful</a:t>
            </a:r>
            <a:r>
              <a:rPr sz="1000" b="0">
                <a:solidFill>
                  <a:srgbClr val="CBD5E1"/>
                </a:solidFill>
                <a:latin typeface="Aptos"/>
              </a:rPr>
              <a:t>No coercion; approved scripts, opt-out handling, and contact-time rules.</a:t>
            </a:r>
          </a:p>
        </p:txBody>
      </p:sp>
      <p:sp>
        <p:nvSpPr>
          <p:cNvPr id="34" name="Oval 33"/>
          <p:cNvSpPr/>
          <p:nvPr/>
        </p:nvSpPr>
        <p:spPr>
          <a:xfrm>
            <a:off x="6144768" y="5212080"/>
            <a:ext cx="109728" cy="109728"/>
          </a:xfrm>
          <a:prstGeom prst="ellipse">
            <a:avLst/>
          </a:prstGeom>
          <a:solidFill>
            <a:srgbClr val="00D2FF"/>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5138928"/>
            <a:ext cx="4846320" cy="310896"/>
          </a:xfrm>
          <a:prstGeom prst="rect">
            <a:avLst/>
          </a:prstGeom>
          <a:noFill/>
        </p:spPr>
        <p:txBody>
          <a:bodyPr wrap="square" lIns="54864" rIns="54864" tIns="54864" bIns="54864">
            <a:spAutoFit/>
          </a:bodyPr>
          <a:lstStyle/>
          <a:p>
            <a:pPr algn="l"/>
            <a:r>
              <a:rPr sz="1000" b="1">
                <a:solidFill>
                  <a:srgbClr val="00D2FF"/>
                </a:solidFill>
                <a:latin typeface="Aptos"/>
              </a:rPr>
              <a:t>No overclaim</a:t>
            </a:r>
            <a:r>
              <a:rPr sz="1000" b="0">
                <a:solidFill>
                  <a:srgbClr val="CBD5E1"/>
                </a:solidFill>
                <a:latin typeface="Aptos"/>
              </a:rPr>
              <a:t>Payment links, acknowledgements, and ledger updates require verified provider receipts.</a:t>
            </a:r>
          </a:p>
        </p:txBody>
      </p:sp>
      <p:cxnSp>
        <p:nvCxnSpPr>
          <p:cNvPr id="36" name="Connector 35"/>
          <p:cNvCxnSpPr/>
          <p:nvPr/>
        </p:nvCxnSpPr>
        <p:spPr>
          <a:xfrm>
            <a:off x="566928" y="6510528"/>
            <a:ext cx="11064240" cy="0"/>
          </a:xfrm>
          <a:prstGeom prst="line">
            <a:avLst/>
          </a:prstGeom>
          <a:ln w="10160">
            <a:solidFill>
              <a:srgbClr val="26324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565392"/>
            <a:ext cx="7315200" cy="146304"/>
          </a:xfrm>
          <a:prstGeom prst="rect">
            <a:avLst/>
          </a:prstGeom>
          <a:noFill/>
        </p:spPr>
        <p:txBody>
          <a:bodyPr wrap="square" lIns="54864" rIns="54864" tIns="54864" bIns="54864" anchor="t">
            <a:spAutoFit/>
          </a:bodyPr>
          <a:lstStyle/>
          <a:p>
            <a:pPr algn="l"/>
            <a:r>
              <a:rPr sz="700" b="0" i="0">
                <a:solidFill>
                  <a:srgbClr val="64748B"/>
                </a:solidFill>
                <a:latin typeface="Aptos"/>
              </a:rPr>
              <a:t>247AutogenV  |  Confidential executive briefing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66928" y="310896"/>
            <a:ext cx="6858000" cy="228600"/>
          </a:xfrm>
          <a:prstGeom prst="rect">
            <a:avLst/>
          </a:prstGeom>
          <a:noFill/>
        </p:spPr>
        <p:txBody>
          <a:bodyPr wrap="square" lIns="54864" rIns="54864" tIns="54864" bIns="54864" anchor="t">
            <a:spAutoFit/>
          </a:bodyPr>
          <a:lstStyle/>
          <a:p>
            <a:pPr algn="l"/>
            <a:r>
              <a:rPr sz="900" b="1" i="0">
                <a:solidFill>
                  <a:srgbClr val="00D2FF"/>
                </a:solidFill>
                <a:latin typeface="Aptos"/>
              </a:rPr>
              <a:t>04  |  ARCHITECTURE &amp; CONTROLS</a:t>
            </a:r>
          </a:p>
        </p:txBody>
      </p:sp>
      <p:sp>
        <p:nvSpPr>
          <p:cNvPr id="3" name="TextBox 2"/>
          <p:cNvSpPr txBox="1"/>
          <p:nvPr/>
        </p:nvSpPr>
        <p:spPr>
          <a:xfrm>
            <a:off x="566928" y="603504"/>
            <a:ext cx="10607040" cy="512064"/>
          </a:xfrm>
          <a:prstGeom prst="rect">
            <a:avLst/>
          </a:prstGeom>
          <a:noFill/>
        </p:spPr>
        <p:txBody>
          <a:bodyPr wrap="square" lIns="54864" rIns="54864" tIns="54864" bIns="54864" anchor="t">
            <a:spAutoFit/>
          </a:bodyPr>
          <a:lstStyle/>
          <a:p>
            <a:pPr algn="l"/>
            <a:r>
              <a:rPr sz="2500" b="1" i="0">
                <a:solidFill>
                  <a:srgbClr val="FFFFFF"/>
                </a:solidFill>
                <a:latin typeface="Aptos"/>
              </a:rPr>
              <a:t>Add an evidence layer around TRM, ERP, and payment events</a:t>
            </a:r>
          </a:p>
        </p:txBody>
      </p:sp>
      <p:sp>
        <p:nvSpPr>
          <p:cNvPr id="4" name="TextBox 3"/>
          <p:cNvSpPr txBox="1"/>
          <p:nvPr/>
        </p:nvSpPr>
        <p:spPr>
          <a:xfrm>
            <a:off x="585216" y="1170432"/>
            <a:ext cx="10789920" cy="320040"/>
          </a:xfrm>
          <a:prstGeom prst="rect">
            <a:avLst/>
          </a:prstGeom>
          <a:noFill/>
        </p:spPr>
        <p:txBody>
          <a:bodyPr wrap="square" lIns="54864" rIns="54864" tIns="54864" bIns="54864" anchor="t">
            <a:spAutoFit/>
          </a:bodyPr>
          <a:lstStyle/>
          <a:p>
            <a:pPr algn="l"/>
            <a:r>
              <a:rPr sz="1000" b="0" i="0">
                <a:solidFill>
                  <a:srgbClr val="CBD5E1"/>
                </a:solidFill>
                <a:latin typeface="Aptos"/>
              </a:rPr>
              <a:t>The design objective is fewer unidentified actions and stronger audit traceability</a:t>
            </a:r>
          </a:p>
        </p:txBody>
      </p:sp>
      <p:sp>
        <p:nvSpPr>
          <p:cNvPr id="5" name="TextBox 4"/>
          <p:cNvSpPr txBox="1"/>
          <p:nvPr/>
        </p:nvSpPr>
        <p:spPr>
          <a:xfrm>
            <a:off x="11109960" y="347472"/>
            <a:ext cx="457200" cy="228600"/>
          </a:xfrm>
          <a:prstGeom prst="rect">
            <a:avLst/>
          </a:prstGeom>
          <a:noFill/>
        </p:spPr>
        <p:txBody>
          <a:bodyPr wrap="square" lIns="54864" rIns="54864" tIns="54864" bIns="54864" anchor="t">
            <a:spAutoFit/>
          </a:bodyPr>
          <a:lstStyle/>
          <a:p>
            <a:pPr algn="r"/>
            <a:r>
              <a:rPr sz="1000" b="1" i="0">
                <a:solidFill>
                  <a:srgbClr val="64748B"/>
                </a:solidFill>
                <a:latin typeface="Aptos"/>
              </a:rPr>
              <a:t>05</a:t>
            </a:r>
          </a:p>
        </p:txBody>
      </p:sp>
      <p:sp>
        <p:nvSpPr>
          <p:cNvPr id="6" name="Rounded Rectangle 5"/>
          <p:cNvSpPr/>
          <p:nvPr/>
        </p:nvSpPr>
        <p:spPr>
          <a:xfrm>
            <a:off x="713232" y="1773936"/>
            <a:ext cx="3977639" cy="658368"/>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713232" y="1773936"/>
            <a:ext cx="54864" cy="658368"/>
          </a:xfrm>
          <a:prstGeom prst="line">
            <a:avLst/>
          </a:prstGeom>
          <a:ln w="50800">
            <a:solidFill>
              <a:srgbClr val="00D2F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9264" y="1892807"/>
            <a:ext cx="1691640" cy="182880"/>
          </a:xfrm>
          <a:prstGeom prst="rect">
            <a:avLst/>
          </a:prstGeom>
          <a:noFill/>
        </p:spPr>
        <p:txBody>
          <a:bodyPr wrap="square" lIns="54864" rIns="54864" tIns="54864" bIns="54864" anchor="t">
            <a:spAutoFit/>
          </a:bodyPr>
          <a:lstStyle/>
          <a:p>
            <a:pPr algn="l"/>
            <a:r>
              <a:rPr sz="900" b="1" i="0">
                <a:solidFill>
                  <a:srgbClr val="00D2FF"/>
                </a:solidFill>
                <a:latin typeface="Aptos"/>
              </a:rPr>
              <a:t>CHANNELS</a:t>
            </a:r>
          </a:p>
        </p:txBody>
      </p:sp>
      <p:sp>
        <p:nvSpPr>
          <p:cNvPr id="9" name="TextBox 8"/>
          <p:cNvSpPr txBox="1"/>
          <p:nvPr/>
        </p:nvSpPr>
        <p:spPr>
          <a:xfrm>
            <a:off x="2487168" y="1883664"/>
            <a:ext cx="1920240" cy="347472"/>
          </a:xfrm>
          <a:prstGeom prst="rect">
            <a:avLst/>
          </a:prstGeom>
          <a:noFill/>
        </p:spPr>
        <p:txBody>
          <a:bodyPr wrap="square" lIns="54864" rIns="54864" tIns="54864" bIns="54864" anchor="t">
            <a:spAutoFit/>
          </a:bodyPr>
          <a:lstStyle/>
          <a:p>
            <a:pPr algn="l"/>
            <a:r>
              <a:rPr sz="1000" b="1" i="0">
                <a:solidFill>
                  <a:srgbClr val="FFFFFF"/>
                </a:solidFill>
                <a:latin typeface="Aptos"/>
              </a:rPr>
              <a:t>1912 • Kannada voice
Outbound collections</a:t>
            </a:r>
          </a:p>
        </p:txBody>
      </p:sp>
      <p:cxnSp>
        <p:nvCxnSpPr>
          <p:cNvPr id="10" name="Connector 9"/>
          <p:cNvCxnSpPr/>
          <p:nvPr/>
        </p:nvCxnSpPr>
        <p:spPr>
          <a:xfrm>
            <a:off x="2697480" y="2441448"/>
            <a:ext cx="0" cy="201167"/>
          </a:xfrm>
          <a:prstGeom prst="line">
            <a:avLst/>
          </a:prstGeom>
          <a:ln w="12700">
            <a:solidFill>
              <a:srgbClr val="26324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13232" y="2642615"/>
            <a:ext cx="3977639" cy="658368"/>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713232" y="2642615"/>
            <a:ext cx="54864" cy="658368"/>
          </a:xfrm>
          <a:prstGeom prst="line">
            <a:avLst/>
          </a:prstGeom>
          <a:ln w="50800">
            <a:solidFill>
              <a:srgbClr val="38EF7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69264" y="2761487"/>
            <a:ext cx="1691640" cy="182880"/>
          </a:xfrm>
          <a:prstGeom prst="rect">
            <a:avLst/>
          </a:prstGeom>
          <a:noFill/>
        </p:spPr>
        <p:txBody>
          <a:bodyPr wrap="square" lIns="54864" rIns="54864" tIns="54864" bIns="54864" anchor="t">
            <a:spAutoFit/>
          </a:bodyPr>
          <a:lstStyle/>
          <a:p>
            <a:pPr algn="l"/>
            <a:r>
              <a:rPr sz="900" b="1" i="0">
                <a:solidFill>
                  <a:srgbClr val="38EF7D"/>
                </a:solidFill>
                <a:latin typeface="Aptos"/>
              </a:rPr>
              <a:t>ORCHESTRATION</a:t>
            </a:r>
          </a:p>
        </p:txBody>
      </p:sp>
      <p:sp>
        <p:nvSpPr>
          <p:cNvPr id="14" name="TextBox 13"/>
          <p:cNvSpPr txBox="1"/>
          <p:nvPr/>
        </p:nvSpPr>
        <p:spPr>
          <a:xfrm>
            <a:off x="2487168" y="2752344"/>
            <a:ext cx="1920240" cy="347472"/>
          </a:xfrm>
          <a:prstGeom prst="rect">
            <a:avLst/>
          </a:prstGeom>
          <a:noFill/>
        </p:spPr>
        <p:txBody>
          <a:bodyPr wrap="square" lIns="54864" rIns="54864" tIns="54864" bIns="54864" anchor="t">
            <a:spAutoFit/>
          </a:bodyPr>
          <a:lstStyle/>
          <a:p>
            <a:pPr algn="l"/>
            <a:r>
              <a:rPr sz="1000" b="1" i="0">
                <a:solidFill>
                  <a:srgbClr val="FFFFFF"/>
                </a:solidFill>
                <a:latin typeface="Aptos"/>
              </a:rPr>
              <a:t>Identity • policy •
workflow state</a:t>
            </a:r>
          </a:p>
        </p:txBody>
      </p:sp>
      <p:cxnSp>
        <p:nvCxnSpPr>
          <p:cNvPr id="15" name="Connector 14"/>
          <p:cNvCxnSpPr/>
          <p:nvPr/>
        </p:nvCxnSpPr>
        <p:spPr>
          <a:xfrm>
            <a:off x="2697480" y="3310127"/>
            <a:ext cx="0" cy="201169"/>
          </a:xfrm>
          <a:prstGeom prst="line">
            <a:avLst/>
          </a:prstGeom>
          <a:ln w="12700">
            <a:solidFill>
              <a:srgbClr val="26324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13232" y="3511296"/>
            <a:ext cx="3977639" cy="658368"/>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713232" y="3511296"/>
            <a:ext cx="54864" cy="658367"/>
          </a:xfrm>
          <a:prstGeom prst="line">
            <a:avLst/>
          </a:prstGeom>
          <a:ln w="50800">
            <a:solidFill>
              <a:srgbClr val="00D2F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69264" y="3630168"/>
            <a:ext cx="1691640" cy="182880"/>
          </a:xfrm>
          <a:prstGeom prst="rect">
            <a:avLst/>
          </a:prstGeom>
          <a:noFill/>
        </p:spPr>
        <p:txBody>
          <a:bodyPr wrap="square" lIns="54864" rIns="54864" tIns="54864" bIns="54864" anchor="t">
            <a:spAutoFit/>
          </a:bodyPr>
          <a:lstStyle/>
          <a:p>
            <a:pPr algn="l"/>
            <a:r>
              <a:rPr sz="900" b="1" i="0">
                <a:solidFill>
                  <a:srgbClr val="00D2FF"/>
                </a:solidFill>
                <a:latin typeface="Aptos"/>
              </a:rPr>
              <a:t>SYSTEMS OF RECORD</a:t>
            </a:r>
          </a:p>
        </p:txBody>
      </p:sp>
      <p:sp>
        <p:nvSpPr>
          <p:cNvPr id="19" name="TextBox 18"/>
          <p:cNvSpPr txBox="1"/>
          <p:nvPr/>
        </p:nvSpPr>
        <p:spPr>
          <a:xfrm>
            <a:off x="2487168" y="3621024"/>
            <a:ext cx="1920240" cy="347472"/>
          </a:xfrm>
          <a:prstGeom prst="rect">
            <a:avLst/>
          </a:prstGeom>
          <a:noFill/>
        </p:spPr>
        <p:txBody>
          <a:bodyPr wrap="square" lIns="54864" rIns="54864" tIns="54864" bIns="54864" anchor="t">
            <a:spAutoFit/>
          </a:bodyPr>
          <a:lstStyle/>
          <a:p>
            <a:pPr algn="l"/>
            <a:r>
              <a:rPr sz="1000" b="1" i="0">
                <a:solidFill>
                  <a:srgbClr val="FFFFFF"/>
                </a:solidFill>
                <a:latin typeface="Aptos"/>
              </a:rPr>
              <a:t>TRM / DCB • ERP F&amp;A
CRM / complaint ledger</a:t>
            </a:r>
          </a:p>
        </p:txBody>
      </p:sp>
      <p:cxnSp>
        <p:nvCxnSpPr>
          <p:cNvPr id="20" name="Connector 19"/>
          <p:cNvCxnSpPr/>
          <p:nvPr/>
        </p:nvCxnSpPr>
        <p:spPr>
          <a:xfrm>
            <a:off x="2697480" y="4178808"/>
            <a:ext cx="0" cy="201168"/>
          </a:xfrm>
          <a:prstGeom prst="line">
            <a:avLst/>
          </a:prstGeom>
          <a:ln w="12700">
            <a:solidFill>
              <a:srgbClr val="26324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13232" y="4379975"/>
            <a:ext cx="3977639" cy="658368"/>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713232" y="4379975"/>
            <a:ext cx="54864" cy="658368"/>
          </a:xfrm>
          <a:prstGeom prst="line">
            <a:avLst/>
          </a:prstGeom>
          <a:ln w="50800">
            <a:solidFill>
              <a:srgbClr val="F6C45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69264" y="4498847"/>
            <a:ext cx="1691640" cy="182880"/>
          </a:xfrm>
          <a:prstGeom prst="rect">
            <a:avLst/>
          </a:prstGeom>
          <a:noFill/>
        </p:spPr>
        <p:txBody>
          <a:bodyPr wrap="square" lIns="54864" rIns="54864" tIns="54864" bIns="54864" anchor="t">
            <a:spAutoFit/>
          </a:bodyPr>
          <a:lstStyle/>
          <a:p>
            <a:pPr algn="l"/>
            <a:r>
              <a:rPr sz="900" b="1" i="0">
                <a:solidFill>
                  <a:srgbClr val="F6C453"/>
                </a:solidFill>
                <a:latin typeface="Aptos"/>
              </a:rPr>
              <a:t>EVIDENCE</a:t>
            </a:r>
          </a:p>
        </p:txBody>
      </p:sp>
      <p:sp>
        <p:nvSpPr>
          <p:cNvPr id="24" name="TextBox 23"/>
          <p:cNvSpPr txBox="1"/>
          <p:nvPr/>
        </p:nvSpPr>
        <p:spPr>
          <a:xfrm>
            <a:off x="2487168" y="4489703"/>
            <a:ext cx="1920240" cy="347472"/>
          </a:xfrm>
          <a:prstGeom prst="rect">
            <a:avLst/>
          </a:prstGeom>
          <a:noFill/>
        </p:spPr>
        <p:txBody>
          <a:bodyPr wrap="square" lIns="54864" rIns="54864" tIns="54864" bIns="54864" anchor="t">
            <a:spAutoFit/>
          </a:bodyPr>
          <a:lstStyle/>
          <a:p>
            <a:pPr algn="l"/>
            <a:r>
              <a:rPr sz="1000" b="1" i="0">
                <a:solidFill>
                  <a:srgbClr val="FFFFFF"/>
                </a:solidFill>
                <a:latin typeface="Aptos"/>
              </a:rPr>
              <a:t>RR no. • transaction ID
UTR • timestamp • consent</a:t>
            </a:r>
          </a:p>
        </p:txBody>
      </p:sp>
      <p:sp>
        <p:nvSpPr>
          <p:cNvPr id="25" name="Rounded Rectangle 24"/>
          <p:cNvSpPr/>
          <p:nvPr/>
        </p:nvSpPr>
        <p:spPr>
          <a:xfrm>
            <a:off x="5166360" y="1773936"/>
            <a:ext cx="6419088" cy="4315968"/>
          </a:xfrm>
          <a:prstGeom prst="roundRect">
            <a:avLst/>
          </a:prstGeom>
          <a:solidFill>
            <a:srgbClr val="101827"/>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68112" y="2039112"/>
            <a:ext cx="2743200" cy="228600"/>
          </a:xfrm>
          <a:prstGeom prst="rect">
            <a:avLst/>
          </a:prstGeom>
          <a:noFill/>
        </p:spPr>
        <p:txBody>
          <a:bodyPr wrap="square" lIns="54864" rIns="54864" tIns="54864" bIns="54864" anchor="t">
            <a:spAutoFit/>
          </a:bodyPr>
          <a:lstStyle/>
          <a:p>
            <a:pPr algn="l"/>
            <a:r>
              <a:rPr sz="900" b="1" i="0">
                <a:solidFill>
                  <a:srgbClr val="00D2FF"/>
                </a:solidFill>
                <a:latin typeface="Aptos"/>
              </a:rPr>
              <a:t>AUDIT DESIGN PRINCIPLES</a:t>
            </a:r>
          </a:p>
        </p:txBody>
      </p:sp>
      <p:sp>
        <p:nvSpPr>
          <p:cNvPr id="27" name="Oval 26"/>
          <p:cNvSpPr/>
          <p:nvPr/>
        </p:nvSpPr>
        <p:spPr>
          <a:xfrm>
            <a:off x="5468112" y="2487168"/>
            <a:ext cx="219456" cy="219456"/>
          </a:xfrm>
          <a:prstGeom prst="ellipse">
            <a:avLst/>
          </a:prstGeom>
          <a:solidFill>
            <a:srgbClr val="38EF7D"/>
          </a:solidFill>
          <a:ln w="10160">
            <a:solidFill>
              <a:srgbClr val="38E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68112" y="2482596"/>
            <a:ext cx="219456" cy="182880"/>
          </a:xfrm>
          <a:prstGeom prst="rect">
            <a:avLst/>
          </a:prstGeom>
          <a:noFill/>
        </p:spPr>
        <p:txBody>
          <a:bodyPr wrap="square" lIns="54864" rIns="54864" tIns="54864" bIns="54864" anchor="t">
            <a:spAutoFit/>
          </a:bodyPr>
          <a:lstStyle/>
          <a:p>
            <a:pPr algn="ctr"/>
            <a:r>
              <a:rPr sz="1000" b="1" i="0">
                <a:solidFill>
                  <a:srgbClr val="0B0F19"/>
                </a:solidFill>
                <a:latin typeface="Aptos"/>
              </a:rPr>
              <a:t>✓</a:t>
            </a:r>
          </a:p>
        </p:txBody>
      </p:sp>
      <p:sp>
        <p:nvSpPr>
          <p:cNvPr id="29" name="TextBox 28"/>
          <p:cNvSpPr txBox="1"/>
          <p:nvPr/>
        </p:nvSpPr>
        <p:spPr>
          <a:xfrm>
            <a:off x="5870448" y="2468880"/>
            <a:ext cx="2194560" cy="192024"/>
          </a:xfrm>
          <a:prstGeom prst="rect">
            <a:avLst/>
          </a:prstGeom>
          <a:noFill/>
        </p:spPr>
        <p:txBody>
          <a:bodyPr wrap="square" lIns="54864" rIns="54864" tIns="54864" bIns="54864" anchor="t">
            <a:spAutoFit/>
          </a:bodyPr>
          <a:lstStyle/>
          <a:p>
            <a:pPr algn="l"/>
            <a:r>
              <a:rPr sz="1100" b="1" i="0">
                <a:solidFill>
                  <a:srgbClr val="FFFFFF"/>
                </a:solidFill>
                <a:latin typeface="Aptos"/>
              </a:rPr>
              <a:t>Verified identity</a:t>
            </a:r>
          </a:p>
        </p:txBody>
      </p:sp>
      <p:sp>
        <p:nvSpPr>
          <p:cNvPr id="30" name="TextBox 29"/>
          <p:cNvSpPr txBox="1"/>
          <p:nvPr/>
        </p:nvSpPr>
        <p:spPr>
          <a:xfrm>
            <a:off x="8028431" y="2468880"/>
            <a:ext cx="3063240" cy="237744"/>
          </a:xfrm>
          <a:prstGeom prst="rect">
            <a:avLst/>
          </a:prstGeom>
          <a:noFill/>
        </p:spPr>
        <p:txBody>
          <a:bodyPr wrap="square" lIns="54864" rIns="54864" tIns="54864" bIns="54864" anchor="t">
            <a:spAutoFit/>
          </a:bodyPr>
          <a:lstStyle/>
          <a:p>
            <a:pPr algn="l"/>
            <a:r>
              <a:rPr sz="1000" b="0" i="0">
                <a:solidFill>
                  <a:srgbClr val="CBD5E1"/>
                </a:solidFill>
                <a:latin typeface="Aptos"/>
              </a:rPr>
              <a:t>RR number, caller consent, account context</a:t>
            </a:r>
          </a:p>
        </p:txBody>
      </p:sp>
      <p:sp>
        <p:nvSpPr>
          <p:cNvPr id="31" name="Oval 30"/>
          <p:cNvSpPr/>
          <p:nvPr/>
        </p:nvSpPr>
        <p:spPr>
          <a:xfrm>
            <a:off x="5468112" y="3191256"/>
            <a:ext cx="219456" cy="219456"/>
          </a:xfrm>
          <a:prstGeom prst="ellipse">
            <a:avLst/>
          </a:prstGeom>
          <a:solidFill>
            <a:srgbClr val="38EF7D"/>
          </a:solidFill>
          <a:ln w="10160">
            <a:solidFill>
              <a:srgbClr val="38E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68112" y="3186684"/>
            <a:ext cx="219456" cy="182880"/>
          </a:xfrm>
          <a:prstGeom prst="rect">
            <a:avLst/>
          </a:prstGeom>
          <a:noFill/>
        </p:spPr>
        <p:txBody>
          <a:bodyPr wrap="square" lIns="54864" rIns="54864" tIns="54864" bIns="54864" anchor="t">
            <a:spAutoFit/>
          </a:bodyPr>
          <a:lstStyle/>
          <a:p>
            <a:pPr algn="ctr"/>
            <a:r>
              <a:rPr sz="1000" b="1" i="0">
                <a:solidFill>
                  <a:srgbClr val="0B0F19"/>
                </a:solidFill>
                <a:latin typeface="Aptos"/>
              </a:rPr>
              <a:t>✓</a:t>
            </a:r>
          </a:p>
        </p:txBody>
      </p:sp>
      <p:sp>
        <p:nvSpPr>
          <p:cNvPr id="33" name="TextBox 32"/>
          <p:cNvSpPr txBox="1"/>
          <p:nvPr/>
        </p:nvSpPr>
        <p:spPr>
          <a:xfrm>
            <a:off x="5870448" y="3172968"/>
            <a:ext cx="2194560" cy="192024"/>
          </a:xfrm>
          <a:prstGeom prst="rect">
            <a:avLst/>
          </a:prstGeom>
          <a:noFill/>
        </p:spPr>
        <p:txBody>
          <a:bodyPr wrap="square" lIns="54864" rIns="54864" tIns="54864" bIns="54864" anchor="t">
            <a:spAutoFit/>
          </a:bodyPr>
          <a:lstStyle/>
          <a:p>
            <a:pPr algn="l"/>
            <a:r>
              <a:rPr sz="1100" b="1" i="0">
                <a:solidFill>
                  <a:srgbClr val="FFFFFF"/>
                </a:solidFill>
                <a:latin typeface="Aptos"/>
              </a:rPr>
              <a:t>No unidentified credits</a:t>
            </a:r>
          </a:p>
        </p:txBody>
      </p:sp>
      <p:sp>
        <p:nvSpPr>
          <p:cNvPr id="34" name="TextBox 33"/>
          <p:cNvSpPr txBox="1"/>
          <p:nvPr/>
        </p:nvSpPr>
        <p:spPr>
          <a:xfrm>
            <a:off x="8028431" y="3172968"/>
            <a:ext cx="3063240" cy="237744"/>
          </a:xfrm>
          <a:prstGeom prst="rect">
            <a:avLst/>
          </a:prstGeom>
          <a:noFill/>
        </p:spPr>
        <p:txBody>
          <a:bodyPr wrap="square" lIns="54864" rIns="54864" tIns="54864" bIns="54864" anchor="t">
            <a:spAutoFit/>
          </a:bodyPr>
          <a:lstStyle/>
          <a:p>
            <a:pPr algn="l"/>
            <a:r>
              <a:rPr sz="1000" b="0" i="0">
                <a:solidFill>
                  <a:srgbClr val="CBD5E1"/>
                </a:solidFill>
                <a:latin typeface="Aptos"/>
              </a:rPr>
              <a:t>Evidence captured before receipt or commitment</a:t>
            </a:r>
          </a:p>
        </p:txBody>
      </p:sp>
      <p:sp>
        <p:nvSpPr>
          <p:cNvPr id="35" name="Oval 34"/>
          <p:cNvSpPr/>
          <p:nvPr/>
        </p:nvSpPr>
        <p:spPr>
          <a:xfrm>
            <a:off x="5468112" y="3895344"/>
            <a:ext cx="219456" cy="219456"/>
          </a:xfrm>
          <a:prstGeom prst="ellipse">
            <a:avLst/>
          </a:prstGeom>
          <a:solidFill>
            <a:srgbClr val="38EF7D"/>
          </a:solidFill>
          <a:ln w="10160">
            <a:solidFill>
              <a:srgbClr val="38E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68112" y="3890772"/>
            <a:ext cx="219456" cy="182880"/>
          </a:xfrm>
          <a:prstGeom prst="rect">
            <a:avLst/>
          </a:prstGeom>
          <a:noFill/>
        </p:spPr>
        <p:txBody>
          <a:bodyPr wrap="square" lIns="54864" rIns="54864" tIns="54864" bIns="54864" anchor="t">
            <a:spAutoFit/>
          </a:bodyPr>
          <a:lstStyle/>
          <a:p>
            <a:pPr algn="ctr"/>
            <a:r>
              <a:rPr sz="1000" b="1" i="0">
                <a:solidFill>
                  <a:srgbClr val="0B0F19"/>
                </a:solidFill>
                <a:latin typeface="Aptos"/>
              </a:rPr>
              <a:t>✓</a:t>
            </a:r>
          </a:p>
        </p:txBody>
      </p:sp>
      <p:sp>
        <p:nvSpPr>
          <p:cNvPr id="37" name="TextBox 36"/>
          <p:cNvSpPr txBox="1"/>
          <p:nvPr/>
        </p:nvSpPr>
        <p:spPr>
          <a:xfrm>
            <a:off x="5870448" y="3877056"/>
            <a:ext cx="2194560" cy="192024"/>
          </a:xfrm>
          <a:prstGeom prst="rect">
            <a:avLst/>
          </a:prstGeom>
          <a:noFill/>
        </p:spPr>
        <p:txBody>
          <a:bodyPr wrap="square" lIns="54864" rIns="54864" tIns="54864" bIns="54864" anchor="t">
            <a:spAutoFit/>
          </a:bodyPr>
          <a:lstStyle/>
          <a:p>
            <a:pPr algn="l"/>
            <a:r>
              <a:rPr sz="1100" b="1" i="0">
                <a:solidFill>
                  <a:srgbClr val="FFFFFF"/>
                </a:solidFill>
                <a:latin typeface="Aptos"/>
              </a:rPr>
              <a:t>Immutable event trail</a:t>
            </a:r>
          </a:p>
        </p:txBody>
      </p:sp>
      <p:sp>
        <p:nvSpPr>
          <p:cNvPr id="38" name="TextBox 37"/>
          <p:cNvSpPr txBox="1"/>
          <p:nvPr/>
        </p:nvSpPr>
        <p:spPr>
          <a:xfrm>
            <a:off x="8028431" y="3877056"/>
            <a:ext cx="3063240" cy="237744"/>
          </a:xfrm>
          <a:prstGeom prst="rect">
            <a:avLst/>
          </a:prstGeom>
          <a:noFill/>
        </p:spPr>
        <p:txBody>
          <a:bodyPr wrap="square" lIns="54864" rIns="54864" tIns="54864" bIns="54864" anchor="t">
            <a:spAutoFit/>
          </a:bodyPr>
          <a:lstStyle/>
          <a:p>
            <a:pPr algn="l"/>
            <a:r>
              <a:rPr sz="1000" b="0" i="0">
                <a:solidFill>
                  <a:srgbClr val="CBD5E1"/>
                </a:solidFill>
                <a:latin typeface="Aptos"/>
              </a:rPr>
              <a:t>Timestamped transcript, disposition, payment event</a:t>
            </a:r>
          </a:p>
        </p:txBody>
      </p:sp>
      <p:sp>
        <p:nvSpPr>
          <p:cNvPr id="39" name="Oval 38"/>
          <p:cNvSpPr/>
          <p:nvPr/>
        </p:nvSpPr>
        <p:spPr>
          <a:xfrm>
            <a:off x="5468112" y="4599431"/>
            <a:ext cx="219456" cy="219456"/>
          </a:xfrm>
          <a:prstGeom prst="ellipse">
            <a:avLst/>
          </a:prstGeom>
          <a:solidFill>
            <a:srgbClr val="38EF7D"/>
          </a:solidFill>
          <a:ln w="10160">
            <a:solidFill>
              <a:srgbClr val="38E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68112" y="4594859"/>
            <a:ext cx="219456" cy="182880"/>
          </a:xfrm>
          <a:prstGeom prst="rect">
            <a:avLst/>
          </a:prstGeom>
          <a:noFill/>
        </p:spPr>
        <p:txBody>
          <a:bodyPr wrap="square" lIns="54864" rIns="54864" tIns="54864" bIns="54864" anchor="t">
            <a:spAutoFit/>
          </a:bodyPr>
          <a:lstStyle/>
          <a:p>
            <a:pPr algn="ctr"/>
            <a:r>
              <a:rPr sz="1000" b="1" i="0">
                <a:solidFill>
                  <a:srgbClr val="0B0F19"/>
                </a:solidFill>
                <a:latin typeface="Aptos"/>
              </a:rPr>
              <a:t>✓</a:t>
            </a:r>
          </a:p>
        </p:txBody>
      </p:sp>
      <p:sp>
        <p:nvSpPr>
          <p:cNvPr id="41" name="TextBox 40"/>
          <p:cNvSpPr txBox="1"/>
          <p:nvPr/>
        </p:nvSpPr>
        <p:spPr>
          <a:xfrm>
            <a:off x="5870448" y="4581144"/>
            <a:ext cx="2194560" cy="192024"/>
          </a:xfrm>
          <a:prstGeom prst="rect">
            <a:avLst/>
          </a:prstGeom>
          <a:noFill/>
        </p:spPr>
        <p:txBody>
          <a:bodyPr wrap="square" lIns="54864" rIns="54864" tIns="54864" bIns="54864" anchor="t">
            <a:spAutoFit/>
          </a:bodyPr>
          <a:lstStyle/>
          <a:p>
            <a:pPr algn="l"/>
            <a:r>
              <a:rPr sz="1100" b="1" i="0">
                <a:solidFill>
                  <a:srgbClr val="FFFFFF"/>
                </a:solidFill>
                <a:latin typeface="Aptos"/>
              </a:rPr>
              <a:t>Zero-trust boundary</a:t>
            </a:r>
          </a:p>
        </p:txBody>
      </p:sp>
      <p:sp>
        <p:nvSpPr>
          <p:cNvPr id="42" name="TextBox 41"/>
          <p:cNvSpPr txBox="1"/>
          <p:nvPr/>
        </p:nvSpPr>
        <p:spPr>
          <a:xfrm>
            <a:off x="8028431" y="4581144"/>
            <a:ext cx="3063240" cy="237744"/>
          </a:xfrm>
          <a:prstGeom prst="rect">
            <a:avLst/>
          </a:prstGeom>
          <a:noFill/>
        </p:spPr>
        <p:txBody>
          <a:bodyPr wrap="square" lIns="54864" rIns="54864" tIns="54864" bIns="54864" anchor="t">
            <a:spAutoFit/>
          </a:bodyPr>
          <a:lstStyle/>
          <a:p>
            <a:pPr algn="l"/>
            <a:r>
              <a:rPr sz="1000" b="0" i="0">
                <a:solidFill>
                  <a:srgbClr val="CBD5E1"/>
                </a:solidFill>
                <a:latin typeface="Aptos"/>
              </a:rPr>
              <a:t>Least privilege, encryption, retention controls</a:t>
            </a:r>
          </a:p>
        </p:txBody>
      </p:sp>
      <p:sp>
        <p:nvSpPr>
          <p:cNvPr id="43" name="TextBox 42"/>
          <p:cNvSpPr txBox="1"/>
          <p:nvPr/>
        </p:nvSpPr>
        <p:spPr>
          <a:xfrm>
            <a:off x="5468112" y="5349240"/>
            <a:ext cx="1143000" cy="182880"/>
          </a:xfrm>
          <a:prstGeom prst="rect">
            <a:avLst/>
          </a:prstGeom>
          <a:noFill/>
        </p:spPr>
        <p:txBody>
          <a:bodyPr wrap="square" lIns="54864" rIns="54864" tIns="54864" bIns="54864" anchor="t">
            <a:spAutoFit/>
          </a:bodyPr>
          <a:lstStyle/>
          <a:p>
            <a:pPr algn="l"/>
            <a:r>
              <a:rPr sz="800" b="1" i="0">
                <a:solidFill>
                  <a:srgbClr val="F6C453"/>
                </a:solidFill>
                <a:latin typeface="Aptos"/>
              </a:rPr>
              <a:t>Primary report fact</a:t>
            </a:r>
          </a:p>
        </p:txBody>
      </p:sp>
      <p:sp>
        <p:nvSpPr>
          <p:cNvPr id="44" name="TextBox 43"/>
          <p:cNvSpPr txBox="1"/>
          <p:nvPr/>
        </p:nvSpPr>
        <p:spPr>
          <a:xfrm>
            <a:off x="6720840" y="5321808"/>
            <a:ext cx="4434840" cy="393192"/>
          </a:xfrm>
          <a:prstGeom prst="rect">
            <a:avLst/>
          </a:prstGeom>
          <a:noFill/>
        </p:spPr>
        <p:txBody>
          <a:bodyPr wrap="square" lIns="54864" rIns="54864" tIns="54864" bIns="54864" anchor="t">
            <a:spAutoFit/>
          </a:bodyPr>
          <a:lstStyle/>
          <a:p>
            <a:pPr algn="l"/>
            <a:r>
              <a:rPr sz="1000" b="0" i="0">
                <a:solidFill>
                  <a:srgbClr val="CBD5E1"/>
                </a:solidFill>
                <a:latin typeface="Aptos"/>
              </a:rPr>
              <a:t>BESCOM auditors cite TRM MIS DCB-to-books differences and ₹80.64 Cr pending reconciliation in GL 23.898.</a:t>
            </a:r>
          </a:p>
        </p:txBody>
      </p:sp>
      <p:cxnSp>
        <p:nvCxnSpPr>
          <p:cNvPr id="45" name="Connector 44"/>
          <p:cNvCxnSpPr/>
          <p:nvPr/>
        </p:nvCxnSpPr>
        <p:spPr>
          <a:xfrm>
            <a:off x="566928" y="6510528"/>
            <a:ext cx="11064240" cy="0"/>
          </a:xfrm>
          <a:prstGeom prst="line">
            <a:avLst/>
          </a:prstGeom>
          <a:ln w="10160">
            <a:solidFill>
              <a:srgbClr val="26324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66928" y="6565392"/>
            <a:ext cx="7315200" cy="146304"/>
          </a:xfrm>
          <a:prstGeom prst="rect">
            <a:avLst/>
          </a:prstGeom>
          <a:noFill/>
        </p:spPr>
        <p:txBody>
          <a:bodyPr wrap="square" lIns="54864" rIns="54864" tIns="54864" bIns="54864" anchor="t">
            <a:spAutoFit/>
          </a:bodyPr>
          <a:lstStyle/>
          <a:p>
            <a:pPr algn="l"/>
            <a:r>
              <a:rPr sz="700" b="0" i="0">
                <a:solidFill>
                  <a:srgbClr val="64748B"/>
                </a:solidFill>
                <a:latin typeface="Aptos"/>
              </a:rPr>
              <a:t>Architecture claims are proposal controls; final integration and security posture require BESCOM IT / CISO approval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66928" y="310896"/>
            <a:ext cx="6858000" cy="228600"/>
          </a:xfrm>
          <a:prstGeom prst="rect">
            <a:avLst/>
          </a:prstGeom>
          <a:noFill/>
        </p:spPr>
        <p:txBody>
          <a:bodyPr wrap="square" lIns="54864" rIns="54864" tIns="54864" bIns="54864" anchor="t">
            <a:spAutoFit/>
          </a:bodyPr>
          <a:lstStyle/>
          <a:p>
            <a:pPr algn="l"/>
            <a:r>
              <a:rPr sz="900" b="1" i="0">
                <a:solidFill>
                  <a:srgbClr val="00D2FF"/>
                </a:solidFill>
                <a:latin typeface="Aptos"/>
              </a:rPr>
              <a:t>05  |  PULL-THROUGH CLOSE</a:t>
            </a:r>
          </a:p>
        </p:txBody>
      </p:sp>
      <p:sp>
        <p:nvSpPr>
          <p:cNvPr id="3" name="TextBox 2"/>
          <p:cNvSpPr txBox="1"/>
          <p:nvPr/>
        </p:nvSpPr>
        <p:spPr>
          <a:xfrm>
            <a:off x="566928" y="603504"/>
            <a:ext cx="10607040" cy="512064"/>
          </a:xfrm>
          <a:prstGeom prst="rect">
            <a:avLst/>
          </a:prstGeom>
          <a:noFill/>
        </p:spPr>
        <p:txBody>
          <a:bodyPr wrap="square" lIns="54864" rIns="54864" tIns="54864" bIns="54864" anchor="t">
            <a:spAutoFit/>
          </a:bodyPr>
          <a:lstStyle/>
          <a:p>
            <a:pPr algn="l"/>
            <a:r>
              <a:rPr sz="2500" b="1" i="0">
                <a:solidFill>
                  <a:srgbClr val="FFFFFF"/>
                </a:solidFill>
                <a:latin typeface="Aptos"/>
              </a:rPr>
              <a:t>30-day proof of value: small perimeter, hard evidence, reversible decision</a:t>
            </a:r>
          </a:p>
        </p:txBody>
      </p:sp>
      <p:sp>
        <p:nvSpPr>
          <p:cNvPr id="4" name="TextBox 3"/>
          <p:cNvSpPr txBox="1"/>
          <p:nvPr/>
        </p:nvSpPr>
        <p:spPr>
          <a:xfrm>
            <a:off x="585216" y="1170432"/>
            <a:ext cx="10789920" cy="320040"/>
          </a:xfrm>
          <a:prstGeom prst="rect">
            <a:avLst/>
          </a:prstGeom>
          <a:noFill/>
        </p:spPr>
        <p:txBody>
          <a:bodyPr wrap="square" lIns="54864" rIns="54864" tIns="54864" bIns="54864" anchor="t">
            <a:spAutoFit/>
          </a:bodyPr>
          <a:lstStyle/>
          <a:p>
            <a:pPr algn="l"/>
            <a:r>
              <a:rPr sz="1000" b="0" i="0">
                <a:solidFill>
                  <a:srgbClr val="CBD5E1"/>
                </a:solidFill>
                <a:latin typeface="Aptos"/>
              </a:rPr>
              <a:t>Two synchronized workstreams. One sandbox handshake. No production rollout assumed.</a:t>
            </a:r>
          </a:p>
        </p:txBody>
      </p:sp>
      <p:sp>
        <p:nvSpPr>
          <p:cNvPr id="5" name="TextBox 4"/>
          <p:cNvSpPr txBox="1"/>
          <p:nvPr/>
        </p:nvSpPr>
        <p:spPr>
          <a:xfrm>
            <a:off x="11109960" y="347472"/>
            <a:ext cx="457200" cy="228600"/>
          </a:xfrm>
          <a:prstGeom prst="rect">
            <a:avLst/>
          </a:prstGeom>
          <a:noFill/>
        </p:spPr>
        <p:txBody>
          <a:bodyPr wrap="square" lIns="54864" rIns="54864" tIns="54864" bIns="54864" anchor="t">
            <a:spAutoFit/>
          </a:bodyPr>
          <a:lstStyle/>
          <a:p>
            <a:pPr algn="r"/>
            <a:r>
              <a:rPr sz="1000" b="1" i="0">
                <a:solidFill>
                  <a:srgbClr val="64748B"/>
                </a:solidFill>
                <a:latin typeface="Aptos"/>
              </a:rPr>
              <a:t>06</a:t>
            </a:r>
          </a:p>
        </p:txBody>
      </p:sp>
      <p:sp>
        <p:nvSpPr>
          <p:cNvPr id="6" name="Rounded Rectangle 5"/>
          <p:cNvSpPr/>
          <p:nvPr/>
        </p:nvSpPr>
        <p:spPr>
          <a:xfrm>
            <a:off x="566928" y="1773936"/>
            <a:ext cx="3246120" cy="4389120"/>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29968"/>
            <a:ext cx="2103120" cy="201168"/>
          </a:xfrm>
          <a:prstGeom prst="rect">
            <a:avLst/>
          </a:prstGeom>
          <a:noFill/>
        </p:spPr>
        <p:txBody>
          <a:bodyPr wrap="square" lIns="54864" rIns="54864" tIns="54864" bIns="54864" anchor="t">
            <a:spAutoFit/>
          </a:bodyPr>
          <a:lstStyle/>
          <a:p>
            <a:pPr algn="l"/>
            <a:r>
              <a:rPr sz="900" b="1" i="0">
                <a:solidFill>
                  <a:srgbClr val="00D2FF"/>
                </a:solidFill>
                <a:latin typeface="Aptos"/>
              </a:rPr>
              <a:t>PILOT PERIMETER</a:t>
            </a:r>
          </a:p>
        </p:txBody>
      </p:sp>
      <p:sp>
        <p:nvSpPr>
          <p:cNvPr id="8" name="TextBox 7"/>
          <p:cNvSpPr txBox="1"/>
          <p:nvPr/>
        </p:nvSpPr>
        <p:spPr>
          <a:xfrm>
            <a:off x="822960" y="2441448"/>
            <a:ext cx="2377440" cy="320040"/>
          </a:xfrm>
          <a:prstGeom prst="rect">
            <a:avLst/>
          </a:prstGeom>
          <a:noFill/>
        </p:spPr>
        <p:txBody>
          <a:bodyPr wrap="square" lIns="54864" rIns="54864" tIns="54864" bIns="54864" anchor="t">
            <a:spAutoFit/>
          </a:bodyPr>
          <a:lstStyle/>
          <a:p>
            <a:pPr algn="l"/>
            <a:r>
              <a:rPr sz="1900" b="1" i="0">
                <a:solidFill>
                  <a:srgbClr val="FFFFFF"/>
                </a:solidFill>
                <a:latin typeface="Aptos"/>
              </a:rPr>
              <a:t>1 urban + 1 rural division</a:t>
            </a:r>
          </a:p>
        </p:txBody>
      </p:sp>
      <p:sp>
        <p:nvSpPr>
          <p:cNvPr id="9" name="TextBox 8"/>
          <p:cNvSpPr txBox="1"/>
          <p:nvPr/>
        </p:nvSpPr>
        <p:spPr>
          <a:xfrm>
            <a:off x="822960" y="2926080"/>
            <a:ext cx="1737360" cy="182880"/>
          </a:xfrm>
          <a:prstGeom prst="rect">
            <a:avLst/>
          </a:prstGeom>
          <a:noFill/>
        </p:spPr>
        <p:txBody>
          <a:bodyPr wrap="square" lIns="54864" rIns="54864" tIns="54864" bIns="54864" anchor="t">
            <a:spAutoFit/>
          </a:bodyPr>
          <a:lstStyle/>
          <a:p>
            <a:pPr algn="l"/>
            <a:r>
              <a:rPr sz="900" b="1" i="0">
                <a:solidFill>
                  <a:srgbClr val="64748B"/>
                </a:solidFill>
                <a:latin typeface="Aptos"/>
              </a:rPr>
              <a:t>Candidate examples</a:t>
            </a:r>
          </a:p>
        </p:txBody>
      </p:sp>
      <p:sp>
        <p:nvSpPr>
          <p:cNvPr id="10" name="TextBox 9"/>
          <p:cNvSpPr txBox="1"/>
          <p:nvPr/>
        </p:nvSpPr>
        <p:spPr>
          <a:xfrm>
            <a:off x="822960" y="3172968"/>
            <a:ext cx="2377440" cy="530352"/>
          </a:xfrm>
          <a:prstGeom prst="rect">
            <a:avLst/>
          </a:prstGeom>
          <a:noFill/>
        </p:spPr>
        <p:txBody>
          <a:bodyPr wrap="square" lIns="54864" rIns="54864" tIns="54864" bIns="54864" anchor="t">
            <a:spAutoFit/>
          </a:bodyPr>
          <a:lstStyle/>
          <a:p>
            <a:pPr algn="l"/>
            <a:r>
              <a:rPr sz="1400" b="1" i="0">
                <a:solidFill>
                  <a:srgbClr val="CBD5E1"/>
                </a:solidFill>
                <a:latin typeface="Aptos"/>
              </a:rPr>
              <a:t>Indiranagar / HSR Layout
Tumkur / Davanagere</a:t>
            </a:r>
          </a:p>
        </p:txBody>
      </p:sp>
      <p:cxnSp>
        <p:nvCxnSpPr>
          <p:cNvPr id="11" name="Connector 10"/>
          <p:cNvCxnSpPr/>
          <p:nvPr/>
        </p:nvCxnSpPr>
        <p:spPr>
          <a:xfrm>
            <a:off x="822960" y="3959352"/>
            <a:ext cx="2633472" cy="0"/>
          </a:xfrm>
          <a:prstGeom prst="line">
            <a:avLst/>
          </a:prstGeom>
          <a:ln w="12700">
            <a:solidFill>
              <a:srgbClr val="26324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4224528"/>
            <a:ext cx="1097280" cy="182880"/>
          </a:xfrm>
          <a:prstGeom prst="rect">
            <a:avLst/>
          </a:prstGeom>
          <a:noFill/>
        </p:spPr>
        <p:txBody>
          <a:bodyPr wrap="square" lIns="54864" rIns="54864" tIns="54864" bIns="54864" anchor="t">
            <a:spAutoFit/>
          </a:bodyPr>
          <a:lstStyle/>
          <a:p>
            <a:pPr algn="l"/>
            <a:r>
              <a:rPr sz="900" b="1" i="0">
                <a:solidFill>
                  <a:srgbClr val="38EF7D"/>
                </a:solidFill>
                <a:latin typeface="Aptos"/>
              </a:rPr>
              <a:t>ENTRY GATE</a:t>
            </a:r>
          </a:p>
        </p:txBody>
      </p:sp>
      <p:sp>
        <p:nvSpPr>
          <p:cNvPr id="13" name="TextBox 12"/>
          <p:cNvSpPr txBox="1"/>
          <p:nvPr/>
        </p:nvSpPr>
        <p:spPr>
          <a:xfrm>
            <a:off x="822960" y="4517136"/>
            <a:ext cx="2514600" cy="822960"/>
          </a:xfrm>
          <a:prstGeom prst="rect">
            <a:avLst/>
          </a:prstGeom>
          <a:noFill/>
        </p:spPr>
        <p:txBody>
          <a:bodyPr wrap="square" lIns="54864" rIns="54864" tIns="54864" bIns="54864" anchor="t">
            <a:spAutoFit/>
          </a:bodyPr>
          <a:lstStyle/>
          <a:p>
            <a:pPr algn="l"/>
            <a:r>
              <a:rPr sz="1200" b="1" i="0">
                <a:solidFill>
                  <a:srgbClr val="FFFFFF"/>
                </a:solidFill>
                <a:latin typeface="Aptos"/>
              </a:rPr>
              <a:t>Sandbox API + data handshake
approved scripts + owners
stop criteria agreed up front</a:t>
            </a:r>
          </a:p>
        </p:txBody>
      </p:sp>
      <p:sp>
        <p:nvSpPr>
          <p:cNvPr id="14" name="Rounded Rectangle 13"/>
          <p:cNvSpPr/>
          <p:nvPr/>
        </p:nvSpPr>
        <p:spPr>
          <a:xfrm>
            <a:off x="4069080" y="1773936"/>
            <a:ext cx="3703320" cy="2057400"/>
          </a:xfrm>
          <a:prstGeom prst="roundRect">
            <a:avLst/>
          </a:prstGeom>
          <a:solidFill>
            <a:srgbClr val="101827"/>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2039112"/>
            <a:ext cx="2743200" cy="210312"/>
          </a:xfrm>
          <a:prstGeom prst="rect">
            <a:avLst/>
          </a:prstGeom>
          <a:noFill/>
        </p:spPr>
        <p:txBody>
          <a:bodyPr wrap="square" lIns="54864" rIns="54864" tIns="54864" bIns="54864" anchor="t">
            <a:spAutoFit/>
          </a:bodyPr>
          <a:lstStyle/>
          <a:p>
            <a:pPr algn="l"/>
            <a:r>
              <a:rPr sz="900" b="1" i="0">
                <a:solidFill>
                  <a:srgbClr val="38EF7D"/>
                </a:solidFill>
                <a:latin typeface="Aptos"/>
              </a:rPr>
              <a:t>WORKSTREAM A  |  CASH</a:t>
            </a:r>
          </a:p>
        </p:txBody>
      </p:sp>
      <p:sp>
        <p:nvSpPr>
          <p:cNvPr id="16" name="TextBox 15"/>
          <p:cNvSpPr txBox="1"/>
          <p:nvPr/>
        </p:nvSpPr>
        <p:spPr>
          <a:xfrm>
            <a:off x="4343400" y="2450592"/>
            <a:ext cx="2926080" cy="256032"/>
          </a:xfrm>
          <a:prstGeom prst="rect">
            <a:avLst/>
          </a:prstGeom>
          <a:noFill/>
        </p:spPr>
        <p:txBody>
          <a:bodyPr wrap="square" lIns="54864" rIns="54864" tIns="54864" bIns="54864" anchor="t">
            <a:spAutoFit/>
          </a:bodyPr>
          <a:lstStyle/>
          <a:p>
            <a:pPr algn="l"/>
            <a:r>
              <a:rPr sz="1600" b="1" i="0">
                <a:solidFill>
                  <a:srgbClr val="FFFFFF"/>
                </a:solidFill>
                <a:latin typeface="Aptos"/>
              </a:rPr>
              <a:t>90+ day default accounts</a:t>
            </a:r>
          </a:p>
        </p:txBody>
      </p:sp>
      <p:sp>
        <p:nvSpPr>
          <p:cNvPr id="17" name="Oval 16"/>
          <p:cNvSpPr/>
          <p:nvPr/>
        </p:nvSpPr>
        <p:spPr>
          <a:xfrm>
            <a:off x="4343400" y="2971800"/>
            <a:ext cx="109728" cy="109728"/>
          </a:xfrm>
          <a:prstGeom prst="ellipse">
            <a:avLst/>
          </a:prstGeom>
          <a:solidFill>
            <a:srgbClr val="38EF7D"/>
          </a:solidFill>
          <a:ln w="10160">
            <a:solidFill>
              <a:srgbClr val="38E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44568" y="2898648"/>
            <a:ext cx="2971800" cy="347472"/>
          </a:xfrm>
          <a:prstGeom prst="rect">
            <a:avLst/>
          </a:prstGeom>
          <a:noFill/>
        </p:spPr>
        <p:txBody>
          <a:bodyPr wrap="square" lIns="54864" rIns="54864" tIns="54864" bIns="54864">
            <a:spAutoFit/>
          </a:bodyPr>
          <a:lstStyle/>
          <a:p>
            <a:pPr algn="l"/>
            <a:r>
              <a:rPr sz="1000" b="1">
                <a:solidFill>
                  <a:srgbClr val="38EF7D"/>
                </a:solidFill>
                <a:latin typeface="Aptos"/>
              </a:rPr>
              <a:t>Measure</a:t>
            </a:r>
            <a:r>
              <a:rPr sz="1000" b="0">
                <a:solidFill>
                  <a:srgbClr val="CBD5E1"/>
                </a:solidFill>
                <a:latin typeface="Aptos"/>
              </a:rPr>
              <a:t>contact → promise → payment → reconciliation</a:t>
            </a:r>
          </a:p>
        </p:txBody>
      </p:sp>
      <p:sp>
        <p:nvSpPr>
          <p:cNvPr id="19" name="Rounded Rectangle 18"/>
          <p:cNvSpPr/>
          <p:nvPr/>
        </p:nvSpPr>
        <p:spPr>
          <a:xfrm>
            <a:off x="7973568" y="1773936"/>
            <a:ext cx="3611880" cy="2057400"/>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2039112"/>
            <a:ext cx="2743200" cy="210312"/>
          </a:xfrm>
          <a:prstGeom prst="rect">
            <a:avLst/>
          </a:prstGeom>
          <a:noFill/>
        </p:spPr>
        <p:txBody>
          <a:bodyPr wrap="square" lIns="54864" rIns="54864" tIns="54864" bIns="54864" anchor="t">
            <a:spAutoFit/>
          </a:bodyPr>
          <a:lstStyle/>
          <a:p>
            <a:pPr algn="l"/>
            <a:r>
              <a:rPr sz="900" b="1" i="0">
                <a:solidFill>
                  <a:srgbClr val="00D2FF"/>
                </a:solidFill>
                <a:latin typeface="Aptos"/>
              </a:rPr>
              <a:t>WORKSTREAM B  |  SERVICE</a:t>
            </a:r>
          </a:p>
        </p:txBody>
      </p:sp>
      <p:sp>
        <p:nvSpPr>
          <p:cNvPr id="21" name="TextBox 20"/>
          <p:cNvSpPr txBox="1"/>
          <p:nvPr/>
        </p:nvSpPr>
        <p:spPr>
          <a:xfrm>
            <a:off x="8247888" y="2450592"/>
            <a:ext cx="2926080" cy="256032"/>
          </a:xfrm>
          <a:prstGeom prst="rect">
            <a:avLst/>
          </a:prstGeom>
          <a:noFill/>
        </p:spPr>
        <p:txBody>
          <a:bodyPr wrap="square" lIns="54864" rIns="54864" tIns="54864" bIns="54864" anchor="t">
            <a:spAutoFit/>
          </a:bodyPr>
          <a:lstStyle/>
          <a:p>
            <a:pPr algn="l"/>
            <a:r>
              <a:rPr sz="1600" b="1" i="0">
                <a:solidFill>
                  <a:srgbClr val="FFFFFF"/>
                </a:solidFill>
                <a:latin typeface="Aptos"/>
              </a:rPr>
              <a:t>1912 Kannada spillover</a:t>
            </a:r>
          </a:p>
        </p:txBody>
      </p:sp>
      <p:sp>
        <p:nvSpPr>
          <p:cNvPr id="22" name="Oval 21"/>
          <p:cNvSpPr/>
          <p:nvPr/>
        </p:nvSpPr>
        <p:spPr>
          <a:xfrm>
            <a:off x="8247888" y="2971800"/>
            <a:ext cx="109728" cy="109728"/>
          </a:xfrm>
          <a:prstGeom prst="ellipse">
            <a:avLst/>
          </a:prstGeom>
          <a:solidFill>
            <a:srgbClr val="00D2FF"/>
          </a:solidFill>
          <a:ln w="1016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49056" y="2898648"/>
            <a:ext cx="2880360" cy="347472"/>
          </a:xfrm>
          <a:prstGeom prst="rect">
            <a:avLst/>
          </a:prstGeom>
          <a:noFill/>
        </p:spPr>
        <p:txBody>
          <a:bodyPr wrap="square" lIns="54864" rIns="54864" tIns="54864" bIns="54864">
            <a:spAutoFit/>
          </a:bodyPr>
          <a:lstStyle/>
          <a:p>
            <a:pPr algn="l"/>
            <a:r>
              <a:rPr sz="1000" b="1">
                <a:solidFill>
                  <a:srgbClr val="00D2FF"/>
                </a:solidFill>
                <a:latin typeface="Aptos"/>
              </a:rPr>
              <a:t>Measure</a:t>
            </a:r>
            <a:r>
              <a:rPr sz="1000" b="0">
                <a:solidFill>
                  <a:srgbClr val="CBD5E1"/>
                </a:solidFill>
                <a:latin typeface="Aptos"/>
              </a:rPr>
              <a:t>answer → ticket → resolution / escalation</a:t>
            </a:r>
          </a:p>
        </p:txBody>
      </p:sp>
      <p:sp>
        <p:nvSpPr>
          <p:cNvPr id="24" name="TextBox 23"/>
          <p:cNvSpPr txBox="1"/>
          <p:nvPr/>
        </p:nvSpPr>
        <p:spPr>
          <a:xfrm>
            <a:off x="4069080" y="4169663"/>
            <a:ext cx="4114800" cy="201168"/>
          </a:xfrm>
          <a:prstGeom prst="rect">
            <a:avLst/>
          </a:prstGeom>
          <a:noFill/>
        </p:spPr>
        <p:txBody>
          <a:bodyPr wrap="square" lIns="54864" rIns="54864" tIns="54864" bIns="54864" anchor="t">
            <a:spAutoFit/>
          </a:bodyPr>
          <a:lstStyle/>
          <a:p>
            <a:pPr algn="l"/>
            <a:r>
              <a:rPr sz="900" b="1" i="0">
                <a:solidFill>
                  <a:srgbClr val="F6C453"/>
                </a:solidFill>
                <a:latin typeface="Aptos"/>
              </a:rPr>
              <a:t>PILOT SCORECARD  |  TARGETS TO VALIDATE</a:t>
            </a:r>
          </a:p>
        </p:txBody>
      </p:sp>
      <p:sp>
        <p:nvSpPr>
          <p:cNvPr id="25" name="Rounded Rectangle 24"/>
          <p:cNvSpPr/>
          <p:nvPr/>
        </p:nvSpPr>
        <p:spPr>
          <a:xfrm>
            <a:off x="4069080" y="4507992"/>
            <a:ext cx="2212848" cy="1243584"/>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33672" y="4736592"/>
            <a:ext cx="1874519" cy="320040"/>
          </a:xfrm>
          <a:prstGeom prst="rect">
            <a:avLst/>
          </a:prstGeom>
          <a:noFill/>
        </p:spPr>
        <p:txBody>
          <a:bodyPr wrap="square" lIns="54864" rIns="54864" tIns="54864" bIns="54864" anchor="t">
            <a:spAutoFit/>
          </a:bodyPr>
          <a:lstStyle/>
          <a:p>
            <a:pPr algn="l"/>
            <a:r>
              <a:rPr sz="2000" b="1" i="0">
                <a:solidFill>
                  <a:srgbClr val="38EF7D"/>
                </a:solidFill>
                <a:latin typeface="Aptos"/>
              </a:rPr>
              <a:t>&gt;15%</a:t>
            </a:r>
          </a:p>
        </p:txBody>
      </p:sp>
      <p:sp>
        <p:nvSpPr>
          <p:cNvPr id="27" name="TextBox 26"/>
          <p:cNvSpPr txBox="1"/>
          <p:nvPr/>
        </p:nvSpPr>
        <p:spPr>
          <a:xfrm>
            <a:off x="4233672" y="5175504"/>
            <a:ext cx="1874519" cy="201168"/>
          </a:xfrm>
          <a:prstGeom prst="rect">
            <a:avLst/>
          </a:prstGeom>
          <a:noFill/>
        </p:spPr>
        <p:txBody>
          <a:bodyPr wrap="square" lIns="54864" rIns="54864" tIns="54864" bIns="54864" anchor="t">
            <a:spAutoFit/>
          </a:bodyPr>
          <a:lstStyle/>
          <a:p>
            <a:pPr algn="l"/>
            <a:r>
              <a:rPr sz="800" b="1" i="0">
                <a:solidFill>
                  <a:srgbClr val="FFFFFF"/>
                </a:solidFill>
                <a:latin typeface="Aptos"/>
              </a:rPr>
              <a:t>PROMISE-TO-PAY</a:t>
            </a:r>
          </a:p>
        </p:txBody>
      </p:sp>
      <p:sp>
        <p:nvSpPr>
          <p:cNvPr id="28" name="TextBox 27"/>
          <p:cNvSpPr txBox="1"/>
          <p:nvPr/>
        </p:nvSpPr>
        <p:spPr>
          <a:xfrm>
            <a:off x="4233672" y="5449824"/>
            <a:ext cx="1874519" cy="164592"/>
          </a:xfrm>
          <a:prstGeom prst="rect">
            <a:avLst/>
          </a:prstGeom>
          <a:noFill/>
        </p:spPr>
        <p:txBody>
          <a:bodyPr wrap="square" lIns="54864" rIns="54864" tIns="54864" bIns="54864" anchor="t">
            <a:spAutoFit/>
          </a:bodyPr>
          <a:lstStyle/>
          <a:p>
            <a:pPr algn="l"/>
            <a:r>
              <a:rPr sz="800" b="0" i="0">
                <a:solidFill>
                  <a:srgbClr val="64748B"/>
                </a:solidFill>
                <a:latin typeface="Aptos"/>
              </a:rPr>
              <a:t>Pilot target</a:t>
            </a:r>
          </a:p>
        </p:txBody>
      </p:sp>
      <p:sp>
        <p:nvSpPr>
          <p:cNvPr id="29" name="Rounded Rectangle 28"/>
          <p:cNvSpPr/>
          <p:nvPr/>
        </p:nvSpPr>
        <p:spPr>
          <a:xfrm>
            <a:off x="6556248" y="4507992"/>
            <a:ext cx="2212848" cy="1243584"/>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4736592"/>
            <a:ext cx="1874519" cy="320040"/>
          </a:xfrm>
          <a:prstGeom prst="rect">
            <a:avLst/>
          </a:prstGeom>
          <a:noFill/>
        </p:spPr>
        <p:txBody>
          <a:bodyPr wrap="square" lIns="54864" rIns="54864" tIns="54864" bIns="54864" anchor="t">
            <a:spAutoFit/>
          </a:bodyPr>
          <a:lstStyle/>
          <a:p>
            <a:pPr algn="l"/>
            <a:r>
              <a:rPr sz="2000" b="1" i="0">
                <a:solidFill>
                  <a:srgbClr val="00D2FF"/>
                </a:solidFill>
                <a:latin typeface="Aptos"/>
              </a:rPr>
              <a:t>100%</a:t>
            </a:r>
          </a:p>
        </p:txBody>
      </p:sp>
      <p:sp>
        <p:nvSpPr>
          <p:cNvPr id="31" name="TextBox 30"/>
          <p:cNvSpPr txBox="1"/>
          <p:nvPr/>
        </p:nvSpPr>
        <p:spPr>
          <a:xfrm>
            <a:off x="6720840" y="5175504"/>
            <a:ext cx="1874519" cy="201168"/>
          </a:xfrm>
          <a:prstGeom prst="rect">
            <a:avLst/>
          </a:prstGeom>
          <a:noFill/>
        </p:spPr>
        <p:txBody>
          <a:bodyPr wrap="square" lIns="54864" rIns="54864" tIns="54864" bIns="54864" anchor="t">
            <a:spAutoFit/>
          </a:bodyPr>
          <a:lstStyle/>
          <a:p>
            <a:pPr algn="l"/>
            <a:r>
              <a:rPr sz="800" b="1" i="0">
                <a:solidFill>
                  <a:srgbClr val="FFFFFF"/>
                </a:solidFill>
                <a:latin typeface="Aptos"/>
              </a:rPr>
              <a:t>CALL CAPTURE</a:t>
            </a:r>
          </a:p>
        </p:txBody>
      </p:sp>
      <p:sp>
        <p:nvSpPr>
          <p:cNvPr id="32" name="TextBox 31"/>
          <p:cNvSpPr txBox="1"/>
          <p:nvPr/>
        </p:nvSpPr>
        <p:spPr>
          <a:xfrm>
            <a:off x="6720840" y="5449824"/>
            <a:ext cx="1874519" cy="164592"/>
          </a:xfrm>
          <a:prstGeom prst="rect">
            <a:avLst/>
          </a:prstGeom>
          <a:noFill/>
        </p:spPr>
        <p:txBody>
          <a:bodyPr wrap="square" lIns="54864" rIns="54864" tIns="54864" bIns="54864" anchor="t">
            <a:spAutoFit/>
          </a:bodyPr>
          <a:lstStyle/>
          <a:p>
            <a:pPr algn="l"/>
            <a:r>
              <a:rPr sz="800" b="0" i="0">
                <a:solidFill>
                  <a:srgbClr val="64748B"/>
                </a:solidFill>
                <a:latin typeface="Aptos"/>
              </a:rPr>
              <a:t>Peak outage window</a:t>
            </a:r>
          </a:p>
        </p:txBody>
      </p:sp>
      <p:sp>
        <p:nvSpPr>
          <p:cNvPr id="33" name="Rounded Rectangle 32"/>
          <p:cNvSpPr/>
          <p:nvPr/>
        </p:nvSpPr>
        <p:spPr>
          <a:xfrm>
            <a:off x="9043416" y="4507992"/>
            <a:ext cx="2212848" cy="1243584"/>
          </a:xfrm>
          <a:prstGeom prst="roundRect">
            <a:avLst/>
          </a:prstGeom>
          <a:solidFill>
            <a:srgbClr val="121B2D"/>
          </a:solidFill>
          <a:ln w="1016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08008" y="4736592"/>
            <a:ext cx="1874519" cy="320040"/>
          </a:xfrm>
          <a:prstGeom prst="rect">
            <a:avLst/>
          </a:prstGeom>
          <a:noFill/>
        </p:spPr>
        <p:txBody>
          <a:bodyPr wrap="square" lIns="54864" rIns="54864" tIns="54864" bIns="54864" anchor="t">
            <a:spAutoFit/>
          </a:bodyPr>
          <a:lstStyle/>
          <a:p>
            <a:pPr algn="l"/>
            <a:r>
              <a:rPr sz="2000" b="1" i="0">
                <a:solidFill>
                  <a:srgbClr val="00D2FF"/>
                </a:solidFill>
                <a:latin typeface="Aptos"/>
              </a:rPr>
              <a:t>&gt;85%</a:t>
            </a:r>
          </a:p>
        </p:txBody>
      </p:sp>
      <p:sp>
        <p:nvSpPr>
          <p:cNvPr id="35" name="TextBox 34"/>
          <p:cNvSpPr txBox="1"/>
          <p:nvPr/>
        </p:nvSpPr>
        <p:spPr>
          <a:xfrm>
            <a:off x="9208008" y="5175504"/>
            <a:ext cx="1874519" cy="201168"/>
          </a:xfrm>
          <a:prstGeom prst="rect">
            <a:avLst/>
          </a:prstGeom>
          <a:noFill/>
        </p:spPr>
        <p:txBody>
          <a:bodyPr wrap="square" lIns="54864" rIns="54864" tIns="54864" bIns="54864" anchor="t">
            <a:spAutoFit/>
          </a:bodyPr>
          <a:lstStyle/>
          <a:p>
            <a:pPr algn="l"/>
            <a:r>
              <a:rPr sz="800" b="1" i="0">
                <a:solidFill>
                  <a:srgbClr val="FFFFFF"/>
                </a:solidFill>
                <a:latin typeface="Aptos"/>
              </a:rPr>
              <a:t>KANNADA CSAT</a:t>
            </a:r>
          </a:p>
        </p:txBody>
      </p:sp>
      <p:sp>
        <p:nvSpPr>
          <p:cNvPr id="36" name="TextBox 35"/>
          <p:cNvSpPr txBox="1"/>
          <p:nvPr/>
        </p:nvSpPr>
        <p:spPr>
          <a:xfrm>
            <a:off x="9208008" y="5449824"/>
            <a:ext cx="1874519" cy="164592"/>
          </a:xfrm>
          <a:prstGeom prst="rect">
            <a:avLst/>
          </a:prstGeom>
          <a:noFill/>
        </p:spPr>
        <p:txBody>
          <a:bodyPr wrap="square" lIns="54864" rIns="54864" tIns="54864" bIns="54864" anchor="t">
            <a:spAutoFit/>
          </a:bodyPr>
          <a:lstStyle/>
          <a:p>
            <a:pPr algn="l"/>
            <a:r>
              <a:rPr sz="800" b="0" i="0">
                <a:solidFill>
                  <a:srgbClr val="64748B"/>
                </a:solidFill>
                <a:latin typeface="Aptos"/>
              </a:rPr>
              <a:t>Survey sample</a:t>
            </a:r>
          </a:p>
        </p:txBody>
      </p:sp>
      <p:sp>
        <p:nvSpPr>
          <p:cNvPr id="37" name="Rounded Rectangle 36"/>
          <p:cNvSpPr/>
          <p:nvPr/>
        </p:nvSpPr>
        <p:spPr>
          <a:xfrm>
            <a:off x="4069080" y="5879592"/>
            <a:ext cx="7516368" cy="301752"/>
          </a:xfrm>
          <a:prstGeom prst="roundRect">
            <a:avLst/>
          </a:prstGeom>
          <a:solidFill>
            <a:srgbClr val="12332A"/>
          </a:solidFill>
          <a:ln w="10160">
            <a:solidFill>
              <a:srgbClr val="38E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51960" y="5934456"/>
            <a:ext cx="7132320" cy="164592"/>
          </a:xfrm>
          <a:prstGeom prst="rect">
            <a:avLst/>
          </a:prstGeom>
          <a:noFill/>
        </p:spPr>
        <p:txBody>
          <a:bodyPr wrap="square" lIns="54864" rIns="54864" tIns="54864" bIns="54864" anchor="t">
            <a:spAutoFit/>
          </a:bodyPr>
          <a:lstStyle/>
          <a:p>
            <a:pPr algn="ctr"/>
            <a:r>
              <a:rPr sz="900" b="1" i="0">
                <a:solidFill>
                  <a:srgbClr val="38EF7D"/>
                </a:solidFill>
                <a:latin typeface="Aptos"/>
              </a:rPr>
              <a:t>DECISION REQUEST  →  GREENLIGHT SANDBOX API / DATA HANDSHAKE</a:t>
            </a:r>
          </a:p>
        </p:txBody>
      </p:sp>
      <p:cxnSp>
        <p:nvCxnSpPr>
          <p:cNvPr id="39" name="Connector 38"/>
          <p:cNvCxnSpPr/>
          <p:nvPr/>
        </p:nvCxnSpPr>
        <p:spPr>
          <a:xfrm>
            <a:off x="566928" y="6510528"/>
            <a:ext cx="11064240" cy="0"/>
          </a:xfrm>
          <a:prstGeom prst="line">
            <a:avLst/>
          </a:prstGeom>
          <a:ln w="10160">
            <a:solidFill>
              <a:srgbClr val="26324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565392"/>
            <a:ext cx="7315200" cy="146304"/>
          </a:xfrm>
          <a:prstGeom prst="rect">
            <a:avLst/>
          </a:prstGeom>
          <a:noFill/>
        </p:spPr>
        <p:txBody>
          <a:bodyPr wrap="square" lIns="54864" rIns="54864" tIns="54864" bIns="54864" anchor="t">
            <a:spAutoFit/>
          </a:bodyPr>
          <a:lstStyle/>
          <a:p>
            <a:pPr algn="l"/>
            <a:r>
              <a:rPr sz="700" b="0" i="0">
                <a:solidFill>
                  <a:srgbClr val="64748B"/>
                </a:solidFill>
                <a:latin typeface="Aptos"/>
              </a:rPr>
              <a:t>247AutogenV  |  Confidential executive briefing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247AutogenV | BESCOM Executive Briefing</dc:title>
  <dc:subject>Autonomous Voice AI Infrastructure for BESCOM</dc:subject>
  <dc:creator>247AutogenV Team</dc:creator>
  <cp:keywords>BESCOM, Kannada voice AI, collections, 1912, finance, auditability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